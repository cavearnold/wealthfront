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notesMasterIdLst>
    <p:notesMasterId r:id="rId17"/>
  </p:notesMasterIdLst>
  <p:handoutMasterIdLst>
    <p:handoutMasterId r:id="rId18"/>
  </p:handoutMasterIdLst>
  <p:sldIdLst>
    <p:sldId id="322" r:id="rId5"/>
    <p:sldId id="332" r:id="rId6"/>
    <p:sldId id="330" r:id="rId7"/>
    <p:sldId id="338" r:id="rId8"/>
    <p:sldId id="337" r:id="rId9"/>
    <p:sldId id="329" r:id="rId10"/>
    <p:sldId id="326" r:id="rId11"/>
    <p:sldId id="328" r:id="rId12"/>
    <p:sldId id="325" r:id="rId13"/>
    <p:sldId id="324" r:id="rId14"/>
    <p:sldId id="323" r:id="rId15"/>
    <p:sldId id="333" r:id="rId16"/>
  </p:sldIdLst>
  <p:sldSz cx="12188825" cy="6858000"/>
  <p:notesSz cx="6858000" cy="9144000"/>
  <p:custDataLst>
    <p:tags r:id="rId19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orient="horz" pos="4030">
          <p15:clr>
            <a:srgbClr val="A4A3A4"/>
          </p15:clr>
        </p15:guide>
        <p15:guide id="3" orient="horz" pos="1200">
          <p15:clr>
            <a:srgbClr val="A4A3A4"/>
          </p15:clr>
        </p15:guide>
        <p15:guide id="4" orient="horz" pos="1008">
          <p15:clr>
            <a:srgbClr val="A4A3A4"/>
          </p15:clr>
        </p15:guide>
        <p15:guide id="5" orient="horz" pos="3792">
          <p15:clr>
            <a:srgbClr val="A4A3A4"/>
          </p15:clr>
        </p15:guide>
        <p15:guide id="6" orient="horz">
          <p15:clr>
            <a:srgbClr val="A4A3A4"/>
          </p15:clr>
        </p15:guide>
        <p15:guide id="7" orient="horz" pos="3360">
          <p15:clr>
            <a:srgbClr val="A4A3A4"/>
          </p15:clr>
        </p15:guide>
        <p15:guide id="8" orient="horz" pos="3312">
          <p15:clr>
            <a:srgbClr val="A4A3A4"/>
          </p15:clr>
        </p15:guide>
        <p15:guide id="9" orient="horz" pos="240">
          <p15:clr>
            <a:srgbClr val="A4A3A4"/>
          </p15:clr>
        </p15:guide>
        <p15:guide id="10" orient="horz" pos="432">
          <p15:clr>
            <a:srgbClr val="A4A3A4"/>
          </p15:clr>
        </p15:guide>
        <p15:guide id="11" orient="horz" pos="2784">
          <p15:clr>
            <a:srgbClr val="A4A3A4"/>
          </p15:clr>
        </p15:guide>
        <p15:guide id="12" pos="3839">
          <p15:clr>
            <a:srgbClr val="A4A3A4"/>
          </p15:clr>
        </p15:guide>
        <p15:guide id="13" pos="959">
          <p15:clr>
            <a:srgbClr val="A4A3A4"/>
          </p15:clr>
        </p15:guide>
        <p15:guide id="14" pos="6143">
          <p15:clr>
            <a:srgbClr val="A4A3A4"/>
          </p15:clr>
        </p15:guide>
        <p15:guide id="15" pos="1247">
          <p15:clr>
            <a:srgbClr val="A4A3A4"/>
          </p15:clr>
        </p15:guide>
        <p15:guide id="16" pos="7007">
          <p15:clr>
            <a:srgbClr val="A4A3A4"/>
          </p15:clr>
        </p15:guide>
        <p15:guide id="17" pos="5855">
          <p15:clr>
            <a:srgbClr val="A4A3A4"/>
          </p15:clr>
        </p15:guide>
        <p15:guide id="18" pos="671">
          <p15:clr>
            <a:srgbClr val="A4A3A4"/>
          </p15:clr>
        </p15:guide>
        <p15:guide id="19" pos="7151">
          <p15:clr>
            <a:srgbClr val="A4A3A4"/>
          </p15:clr>
        </p15:guide>
        <p15:guide id="20" pos="311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2702C7D-D491-4732-98AB-184CCDB2D9DD}" v="14" dt="2025-04-23T17:32:01.39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7" autoAdjust="0"/>
    <p:restoredTop sz="94581" autoAdjust="0"/>
  </p:normalViewPr>
  <p:slideViewPr>
    <p:cSldViewPr showGuides="1">
      <p:cViewPr varScale="1">
        <p:scale>
          <a:sx n="144" d="100"/>
          <a:sy n="144" d="100"/>
        </p:scale>
        <p:origin x="3186" y="348"/>
      </p:cViewPr>
      <p:guideLst>
        <p:guide orient="horz" pos="2160"/>
        <p:guide orient="horz" pos="4030"/>
        <p:guide orient="horz" pos="1200"/>
        <p:guide orient="horz" pos="1008"/>
        <p:guide orient="horz" pos="3792"/>
        <p:guide orient="horz"/>
        <p:guide orient="horz" pos="3360"/>
        <p:guide orient="horz" pos="3312"/>
        <p:guide orient="horz" pos="240"/>
        <p:guide orient="horz" pos="432"/>
        <p:guide orient="horz" pos="2784"/>
        <p:guide pos="3839"/>
        <p:guide pos="959"/>
        <p:guide pos="6143"/>
        <p:guide pos="1247"/>
        <p:guide pos="7007"/>
        <p:guide pos="5855"/>
        <p:guide pos="671"/>
        <p:guide pos="7151"/>
        <p:guide pos="311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79" d="100"/>
          <a:sy n="79" d="100"/>
        </p:scale>
        <p:origin x="2496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tags" Target="tags/tag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088EAF-6ECA-4616-85EF-35AA19C641F3}" type="datetimeFigureOut">
              <a:rPr lang="en-US"/>
              <a:t>4/22/2025</a:t>
            </a:fld>
            <a:endParaRPr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F912AB-2776-42F2-A957-313FC7EFEDB9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3206574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BD2D7A-D230-4F91-BD59-0A39C2703BA8}" type="datetimeFigureOut">
              <a:rPr lang="en-US"/>
              <a:t>4/22/2025</a:t>
            </a:fld>
            <a:endParaRPr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3199CD-3E1B-4AE6-990F-76F925F5EA9F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76579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3199CD-3E1B-4AE6-990F-76F925F5EA9F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29553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 bwMode="ltGray"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5214" y="1828800"/>
            <a:ext cx="8229600" cy="2895600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6600" b="1" cap="none" spc="0">
                <a:ln w="9525">
                  <a:noFill/>
                  <a:prstDash val="solid"/>
                </a:ln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5213" y="4800600"/>
            <a:ext cx="8229600" cy="12192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000" b="1" cap="all" spc="200" baseline="0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100"/>
            </a:lvl1pPr>
          </a:lstStyle>
          <a:p>
            <a:fld id="{1D2498CD-A622-4ACC-98D8-8365C1B868F0}" type="datetime1">
              <a:rPr lang="en-US" smtClean="0"/>
              <a:pPr/>
              <a:t>4/22/2025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100"/>
            </a:lvl1pPr>
          </a:lstStyle>
          <a:p>
            <a:r>
              <a:rPr lang="en-US" dirty="0"/>
              <a:t>Add a footer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100"/>
            </a:lvl1pPr>
          </a:lstStyle>
          <a:p>
            <a:fld id="{2A013F82-EE5E-44EE-A61D-E31C6657F26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7807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BF3DB-CE40-42F4-BAF4-5D73D1160093}" type="datetime1">
              <a:rPr lang="en-US" smtClean="0"/>
              <a:t>4/22/2025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88074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9614" y="2514600"/>
            <a:ext cx="8692399" cy="2819400"/>
          </a:xfrm>
        </p:spPr>
        <p:txBody>
          <a:bodyPr anchor="b">
            <a:normAutofit/>
          </a:bodyPr>
          <a:lstStyle>
            <a:lvl1pPr algn="l">
              <a:lnSpc>
                <a:spcPct val="80000"/>
              </a:lnSpc>
              <a:defRPr sz="4800" b="0" cap="none" baseline="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5213" y="5410200"/>
            <a:ext cx="8687333" cy="609601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000" cap="all" spc="2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CA6E5-33C6-44C3-9324-1BC5DF93F43F}" type="datetime1">
              <a:rPr lang="en-US" smtClean="0"/>
              <a:t>4/22/2025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96722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2" y="381000"/>
            <a:ext cx="9144002" cy="1371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04781" y="1905001"/>
            <a:ext cx="4419599" cy="41148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29183" y="1905001"/>
            <a:ext cx="4419600" cy="41148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9C1D9-07E1-4387-AF34-89EE2802766D}" type="datetime1">
              <a:rPr lang="en-US" smtClean="0"/>
              <a:t>4/22/2025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1894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2" y="381000"/>
            <a:ext cx="9144002" cy="13716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1" y="1905000"/>
            <a:ext cx="4416552" cy="762000"/>
          </a:xfr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None/>
              <a:defRPr sz="2000" b="0" cap="all" spc="2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22411" y="2743201"/>
            <a:ext cx="4416552" cy="32766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49861" y="1905000"/>
            <a:ext cx="4416552" cy="762000"/>
          </a:xfr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None/>
              <a:defRPr sz="2000" b="0" cap="all" spc="2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49861" y="2743201"/>
            <a:ext cx="4416552" cy="32766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9E85B-B39A-43E9-82DE-E3279D984288}" type="datetime1">
              <a:rPr lang="en-US" smtClean="0"/>
              <a:t>4/22/2025</a:t>
            </a:fld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19934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70C95-D35D-47FC-816D-E56328637043}" type="datetime1">
              <a:rPr lang="en-US" smtClean="0"/>
              <a:t>4/22/2025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4585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163A7-695C-4C09-B334-6924060F5B71}" type="datetime1">
              <a:rPr lang="en-US" smtClean="0"/>
              <a:t>4/22/2025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49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5604" y="1905000"/>
            <a:ext cx="3596607" cy="2667000"/>
          </a:xfrm>
        </p:spPr>
        <p:txBody>
          <a:bodyPr anchor="b">
            <a:noAutofit/>
          </a:bodyPr>
          <a:lstStyle>
            <a:lvl1pPr algn="l">
              <a:lnSpc>
                <a:spcPct val="90000"/>
              </a:lnSpc>
              <a:defRPr sz="36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1414" y="685800"/>
            <a:ext cx="6400800" cy="5334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65213" y="4648200"/>
            <a:ext cx="3581399" cy="13716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12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B6D02-49B3-41C1-9893-391F698AE757}" type="datetime1">
              <a:rPr lang="en-US" smtClean="0"/>
              <a:t>4/22/2025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55699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5604" y="1905000"/>
            <a:ext cx="3596607" cy="266700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3600" b="0" i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>
          <a:xfrm>
            <a:off x="4951414" y="685800"/>
            <a:ext cx="6400799" cy="5334000"/>
          </a:xfrm>
          <a:solidFill>
            <a:schemeClr val="bg2"/>
          </a:solidFill>
          <a:ln w="76200">
            <a:solidFill>
              <a:schemeClr val="tx1"/>
            </a:solidFill>
            <a:miter lim="800000"/>
          </a:ln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65213" y="4648200"/>
            <a:ext cx="3581399" cy="13716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12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1AC91-90B4-40B7-917F-BAE86E369F96}" type="datetime1">
              <a:rPr lang="en-US" smtClean="0"/>
              <a:t>4/22/2025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115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2CF6B-193C-4CEB-9860-F1C5F0818FA3}" type="datetime1">
              <a:rPr lang="en-US" smtClean="0"/>
              <a:t>4/22/2025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39595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42412" y="381001"/>
            <a:ext cx="1524001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22412" y="381001"/>
            <a:ext cx="7391399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6CBC3-4EDC-4C84-BDD0-15F2AD890B92}" type="datetime1">
              <a:rPr lang="en-US" smtClean="0"/>
              <a:t>4/22/2025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93052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invGray"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2413" y="381000"/>
            <a:ext cx="9144001" cy="137160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3" y="1904999"/>
            <a:ext cx="9134391" cy="4114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22413" y="6400800"/>
            <a:ext cx="6553199" cy="2762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6422" y="6400800"/>
            <a:ext cx="1449389" cy="2762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4AB525-F3F4-481A-B8D5-B732FA9EB082}" type="datetime1">
              <a:rPr lang="en-US" smtClean="0"/>
              <a:pPr/>
              <a:t>4/22/2025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828211" y="6400800"/>
            <a:ext cx="838201" cy="2762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013F82-EE5E-44EE-A61D-E31C6657F26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534420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 cap="none" spc="0" baseline="0">
          <a:ln w="9525">
            <a:noFill/>
            <a:prstDash val="solid"/>
          </a:ln>
          <a:solidFill>
            <a:schemeClr val="accent5"/>
          </a:solidFill>
          <a:effectLst/>
          <a:latin typeface="+mj-lt"/>
          <a:ea typeface="+mj-ea"/>
          <a:cs typeface="+mj-cs"/>
        </a:defRPr>
      </a:lvl1pPr>
    </p:titleStyle>
    <p:bodyStyle>
      <a:lvl1pPr marL="223838" indent="-223838" algn="l" defTabSz="914400" rtl="0" eaLnBrk="1" latinLnBrk="0" hangingPunct="1">
        <a:lnSpc>
          <a:spcPct val="90000"/>
        </a:lnSpc>
        <a:spcBef>
          <a:spcPts val="1800"/>
        </a:spcBef>
        <a:buClr>
          <a:schemeClr val="accent1"/>
        </a:buClr>
        <a:buSzPct val="10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63550" indent="-231775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SzPct val="10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82625" indent="-219075" algn="l" defTabSz="91440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SzPct val="10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857250" indent="-174625" algn="l" defTabSz="91440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SzPct val="10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030288" indent="-173038" algn="l" defTabSz="91440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SzPct val="10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207008" indent="-173736" algn="l" defTabSz="914400" rtl="0" eaLnBrk="1" latinLnBrk="0" hangingPunct="1">
        <a:spcBef>
          <a:spcPts val="600"/>
        </a:spcBef>
        <a:buClr>
          <a:schemeClr val="accent1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380744" indent="-173736" algn="l" defTabSz="914400" rtl="0" eaLnBrk="1" latinLnBrk="0" hangingPunct="1">
        <a:spcBef>
          <a:spcPts val="600"/>
        </a:spcBef>
        <a:buClr>
          <a:schemeClr val="accent1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1554480" indent="-173736" algn="l" defTabSz="914400" rtl="0" eaLnBrk="1" latinLnBrk="0" hangingPunct="1">
        <a:spcBef>
          <a:spcPts val="600"/>
        </a:spcBef>
        <a:buClr>
          <a:schemeClr val="accent1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1728216" indent="-173736" algn="l" defTabSz="914400" rtl="0" eaLnBrk="1" latinLnBrk="0" hangingPunct="1">
        <a:spcBef>
          <a:spcPts val="600"/>
        </a:spcBef>
        <a:buClr>
          <a:schemeClr val="accent1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CaveArnold@gmail.com?subject=Financial%20Question...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wealthfront.com/c/affiliates/invited/AFFA-O89Y-XREM-UFY6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www.condorcapital.com/the-robo-report/" TargetMode="Externa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research.wealthfront.com/whitepapers/tax-loss-harvesting/" TargetMode="External"/><Relationship Id="rId2" Type="http://schemas.openxmlformats.org/officeDocument/2006/relationships/hyperlink" Target="https://research.wealthfront.com/whitepapers/investment-methodology/" TargetMode="External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www.wealthfront.com/blog/important-minimizing-taxes-minimizing-fees" TargetMode="External"/><Relationship Id="rId4" Type="http://schemas.openxmlformats.org/officeDocument/2006/relationships/hyperlink" Target="https://research.wealthfront.com/whitepapers/stock-level-tax-loss-harvesting/" TargetMode="Externa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5214" y="1828800"/>
            <a:ext cx="8991598" cy="2895600"/>
          </a:xfrm>
        </p:spPr>
        <p:txBody>
          <a:bodyPr>
            <a:normAutofit/>
          </a:bodyPr>
          <a:lstStyle/>
          <a:p>
            <a:r>
              <a:rPr lang="en-US" sz="7200" dirty="0"/>
              <a:t>2025</a:t>
            </a:r>
            <a:br>
              <a:rPr lang="en-US" sz="7200" dirty="0"/>
            </a:br>
            <a:r>
              <a:rPr lang="en-US" sz="7200" dirty="0"/>
              <a:t>Robo Advice &amp; Wealthfront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5212" y="4800600"/>
            <a:ext cx="6324599" cy="1219200"/>
          </a:xfrm>
        </p:spPr>
        <p:txBody>
          <a:bodyPr>
            <a:normAutofit fontScale="92500"/>
          </a:bodyPr>
          <a:lstStyle/>
          <a:p>
            <a:r>
              <a:rPr lang="en-US" dirty="0"/>
              <a:t>My review based on eight years of use.</a:t>
            </a:r>
          </a:p>
          <a:p>
            <a:endParaRPr lang="en-US" dirty="0"/>
          </a:p>
          <a:p>
            <a:r>
              <a:rPr lang="en-US" dirty="0"/>
              <a:t>Cave Arnold – CFP, RICP</a:t>
            </a:r>
          </a:p>
          <a:p>
            <a:r>
              <a:rPr lang="en-US" dirty="0">
                <a:hlinkClick r:id="rId3"/>
              </a:rPr>
              <a:t>Cavearnold@gmail.com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4D37023-4AA1-6450-7E6A-65E0E6A91D14}"/>
              </a:ext>
            </a:extLst>
          </p:cNvPr>
          <p:cNvSpPr txBox="1"/>
          <p:nvPr/>
        </p:nvSpPr>
        <p:spPr>
          <a:xfrm>
            <a:off x="7997825" y="2076271"/>
            <a:ext cx="4191000" cy="1200329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US" dirty="0">
                <a:hlinkClick r:id="rId4"/>
              </a:rPr>
              <a:t>If you decide to sign up with Wealthfront based on this review, please use this link as we each get an extra $5,000 managed free.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4489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2284412" y="381000"/>
            <a:ext cx="8382002" cy="1066800"/>
          </a:xfrm>
        </p:spPr>
        <p:txBody>
          <a:bodyPr anchor="b">
            <a:normAutofit/>
          </a:bodyPr>
          <a:lstStyle/>
          <a:p>
            <a:r>
              <a:rPr lang="en-US" sz="5400" dirty="0"/>
              <a:t>What is a Robo Advisor?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sz="half" idx="1"/>
          </p:nvPr>
        </p:nvSpPr>
        <p:spPr>
          <a:xfrm>
            <a:off x="379411" y="381000"/>
            <a:ext cx="1905001" cy="1219200"/>
          </a:xfrm>
        </p:spPr>
        <p:txBody>
          <a:bodyPr>
            <a:noAutofit/>
          </a:bodyPr>
          <a:lstStyle/>
          <a:p>
            <a:pPr marL="0" lvl="0" indent="0">
              <a:buNone/>
            </a:pPr>
            <a:r>
              <a:rPr lang="en-US" sz="9600" b="1" dirty="0">
                <a:ln w="9525">
                  <a:noFill/>
                  <a:prstDash val="solid"/>
                </a:ln>
                <a:solidFill>
                  <a:schemeClr val="accent6"/>
                </a:solidFill>
                <a:ea typeface="+mj-ea"/>
                <a:cs typeface="+mj-cs"/>
              </a:rPr>
              <a:t>10</a:t>
            </a:r>
            <a:endParaRPr lang="en-US" sz="9600" dirty="0">
              <a:solidFill>
                <a:schemeClr val="accent6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2D074C-6481-4A8F-89C9-28F2EB4F0423}"/>
              </a:ext>
            </a:extLst>
          </p:cNvPr>
          <p:cNvSpPr txBox="1"/>
          <p:nvPr/>
        </p:nvSpPr>
        <p:spPr>
          <a:xfrm>
            <a:off x="836612" y="1981200"/>
            <a:ext cx="10058400" cy="3259354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>
            <a:spAutoFit/>
          </a:bodyPr>
          <a:lstStyle/>
          <a:p>
            <a:pPr marL="223838" lvl="0" indent="-223838">
              <a:lnSpc>
                <a:spcPct val="90000"/>
              </a:lnSpc>
              <a:spcBef>
                <a:spcPts val="1800"/>
              </a:spcBef>
              <a:buClr>
                <a:srgbClr val="99CB38"/>
              </a:buClr>
              <a:buSzPct val="100000"/>
              <a:buFont typeface="Arial" pitchFamily="34" charset="0"/>
              <a:buChar char="•"/>
              <a:defRPr/>
            </a:pPr>
            <a:r>
              <a:rPr lang="en-US" dirty="0">
                <a:solidFill>
                  <a:prstClr val="white"/>
                </a:solidFill>
              </a:rPr>
              <a:t>Use software algorithms to automate complex financial transactions. (i.e., ATMs instead of Bank Tellers)</a:t>
            </a:r>
          </a:p>
          <a:p>
            <a:pPr marL="223838" lvl="0" indent="-223838">
              <a:lnSpc>
                <a:spcPct val="90000"/>
              </a:lnSpc>
              <a:spcBef>
                <a:spcPts val="1800"/>
              </a:spcBef>
              <a:buClr>
                <a:srgbClr val="99CB38"/>
              </a:buClr>
              <a:buSzPct val="100000"/>
              <a:buFont typeface="Arial" pitchFamily="34" charset="0"/>
              <a:buChar char="•"/>
              <a:defRPr/>
            </a:pPr>
            <a:r>
              <a:rPr lang="en-US" dirty="0">
                <a:solidFill>
                  <a:prstClr val="white"/>
                </a:solidFill>
              </a:rPr>
              <a:t>Have human investment officers that decide which investment offerings for a given risk and reevaluate periodically.</a:t>
            </a:r>
          </a:p>
          <a:p>
            <a:pPr marL="223838" lvl="0" indent="-223838">
              <a:lnSpc>
                <a:spcPct val="90000"/>
              </a:lnSpc>
              <a:spcBef>
                <a:spcPts val="1800"/>
              </a:spcBef>
              <a:buClr>
                <a:srgbClr val="99CB38"/>
              </a:buClr>
              <a:buSzPct val="100000"/>
              <a:buFont typeface="Arial" pitchFamily="34" charset="0"/>
              <a:buChar char="•"/>
              <a:defRPr/>
            </a:pPr>
            <a:r>
              <a:rPr lang="en-US" dirty="0">
                <a:solidFill>
                  <a:prstClr val="white"/>
                </a:solidFill>
              </a:rPr>
              <a:t>Generally, use broad market low-cost index funds in an exchange traded fund (ETF) wrapper for tax efficiency.</a:t>
            </a:r>
          </a:p>
          <a:p>
            <a:pPr marL="223838" lvl="0" indent="-223838">
              <a:lnSpc>
                <a:spcPct val="90000"/>
              </a:lnSpc>
              <a:spcBef>
                <a:spcPts val="1800"/>
              </a:spcBef>
              <a:buClr>
                <a:srgbClr val="99CB38"/>
              </a:buClr>
              <a:buSzPct val="100000"/>
              <a:buFont typeface="Arial" pitchFamily="34" charset="0"/>
              <a:buChar char="•"/>
              <a:defRPr/>
            </a:pPr>
            <a:r>
              <a:rPr lang="en-US" dirty="0">
                <a:solidFill>
                  <a:prstClr val="white"/>
                </a:solidFill>
              </a:rPr>
              <a:t>May offer goal oriented financial planning projections.</a:t>
            </a:r>
          </a:p>
          <a:p>
            <a:pPr marL="223838" lvl="0" indent="-223838">
              <a:lnSpc>
                <a:spcPct val="90000"/>
              </a:lnSpc>
              <a:spcBef>
                <a:spcPts val="1800"/>
              </a:spcBef>
              <a:buClr>
                <a:srgbClr val="99CB38"/>
              </a:buClr>
              <a:buSzPct val="100000"/>
              <a:buFont typeface="Arial" pitchFamily="34" charset="0"/>
              <a:buChar char="•"/>
              <a:defRPr/>
            </a:pPr>
            <a:r>
              <a:rPr lang="en-US" dirty="0">
                <a:solidFill>
                  <a:prstClr val="white"/>
                </a:solidFill>
              </a:rPr>
              <a:t>Allow a one stop shop for retirement accounts. (Brokerage, Cash, IRA, Roth IRA, 529, etc.)</a:t>
            </a:r>
          </a:p>
        </p:txBody>
      </p:sp>
    </p:spTree>
    <p:extLst>
      <p:ext uri="{BB962C8B-B14F-4D97-AF65-F5344CB8AC3E}">
        <p14:creationId xmlns:p14="http://schemas.microsoft.com/office/powerpoint/2010/main" val="233355304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7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" dur="500" autoRev="1" fill="remove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9" dur="500" autoRev="1" fill="remove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0" dur="500" autoRev="1" fill="remove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1" dur="500" autoRev="1" fill="remove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5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 build="p"/>
      <p:bldP spid="14" grpId="1" build="p"/>
      <p:bldP spid="14" grpId="2" build="p"/>
      <p:bldP spid="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2284412" y="381000"/>
            <a:ext cx="8382002" cy="1066800"/>
          </a:xfrm>
        </p:spPr>
        <p:txBody>
          <a:bodyPr anchor="b">
            <a:normAutofit/>
          </a:bodyPr>
          <a:lstStyle/>
          <a:p>
            <a:r>
              <a:rPr lang="en-US" sz="5400" dirty="0"/>
              <a:t>The Robo Landscape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sz="half" idx="1"/>
          </p:nvPr>
        </p:nvSpPr>
        <p:spPr>
          <a:xfrm>
            <a:off x="379411" y="381000"/>
            <a:ext cx="1905001" cy="1219200"/>
          </a:xfrm>
        </p:spPr>
        <p:txBody>
          <a:bodyPr>
            <a:noAutofit/>
          </a:bodyPr>
          <a:lstStyle/>
          <a:p>
            <a:pPr marL="0" lvl="0" indent="0">
              <a:buNone/>
            </a:pPr>
            <a:r>
              <a:rPr lang="en-US" sz="9600" b="1" dirty="0">
                <a:ln w="9525">
                  <a:noFill/>
                  <a:prstDash val="solid"/>
                </a:ln>
                <a:solidFill>
                  <a:schemeClr val="accent6"/>
                </a:solidFill>
                <a:ea typeface="+mj-ea"/>
                <a:cs typeface="+mj-cs"/>
              </a:rPr>
              <a:t> 9</a:t>
            </a:r>
            <a:endParaRPr lang="en-US" sz="9600" dirty="0">
              <a:solidFill>
                <a:schemeClr val="accent6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2D074C-6481-4A8F-89C9-28F2EB4F0423}"/>
              </a:ext>
            </a:extLst>
          </p:cNvPr>
          <p:cNvSpPr txBox="1"/>
          <p:nvPr/>
        </p:nvSpPr>
        <p:spPr>
          <a:xfrm>
            <a:off x="379411" y="1981200"/>
            <a:ext cx="4572001" cy="3046988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>
            <a:spAutoFit/>
          </a:bodyPr>
          <a:lstStyle/>
          <a:p>
            <a:pPr marL="223838" marR="0" lvl="0" indent="-223838" algn="l" defTabSz="914400" rtl="0" eaLnBrk="1" fontAlgn="auto" latinLnBrk="0" hangingPunct="1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99CB38"/>
              </a:buClr>
              <a:buSzPct val="100000"/>
              <a:buFont typeface="Arial" pitchFamily="34" charset="0"/>
              <a:buChar char="•"/>
              <a:tabLst/>
              <a:defRPr/>
            </a:pPr>
            <a:r>
              <a:rPr lang="en-US" dirty="0">
                <a:solidFill>
                  <a:prstClr val="white"/>
                </a:solidFill>
                <a:latin typeface="Century Gothic" panose="020B0502020202020204"/>
                <a:hlinkClick r:id="rId2"/>
              </a:rPr>
              <a:t>The Robo Report</a:t>
            </a:r>
            <a:endParaRPr lang="en-US" dirty="0">
              <a:solidFill>
                <a:prstClr val="white"/>
              </a:solidFill>
              <a:latin typeface="Century Gothic" panose="020B0502020202020204"/>
            </a:endParaRPr>
          </a:p>
          <a:p>
            <a:pPr marL="681038" lvl="1" indent="-223838">
              <a:lnSpc>
                <a:spcPct val="90000"/>
              </a:lnSpc>
              <a:spcBef>
                <a:spcPts val="1800"/>
              </a:spcBef>
              <a:buClr>
                <a:srgbClr val="99CB38"/>
              </a:buClr>
              <a:buSzPct val="100000"/>
              <a:buFont typeface="Arial" pitchFamily="34" charset="0"/>
              <a:buChar char="•"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In 2017 I did my</a:t>
            </a:r>
            <a:r>
              <a:rPr kumimoji="0" lang="en-US" b="0" i="0" u="none" strike="noStrike" kern="1200" cap="none" spc="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own evaluations. Now there is a group that is focused on providing independent guidance on performance.</a:t>
            </a:r>
          </a:p>
          <a:p>
            <a:pPr marL="681038" lvl="1" indent="-223838">
              <a:lnSpc>
                <a:spcPct val="90000"/>
              </a:lnSpc>
              <a:spcBef>
                <a:spcPts val="1800"/>
              </a:spcBef>
              <a:buClr>
                <a:srgbClr val="99CB38"/>
              </a:buClr>
              <a:buSzPct val="100000"/>
              <a:buFont typeface="Arial" pitchFamily="34" charset="0"/>
              <a:buChar char="•"/>
              <a:defRPr/>
            </a:pPr>
            <a:r>
              <a:rPr lang="en-US" baseline="0" dirty="0">
                <a:solidFill>
                  <a:prstClr val="white"/>
                </a:solidFill>
                <a:latin typeface="Century Gothic" panose="020B0502020202020204"/>
              </a:rPr>
              <a:t>In my personal investment plan</a:t>
            </a:r>
            <a:r>
              <a:rPr lang="en-US" dirty="0">
                <a:solidFill>
                  <a:prstClr val="white"/>
                </a:solidFill>
                <a:latin typeface="Century Gothic" panose="020B0502020202020204"/>
              </a:rPr>
              <a:t>ning I do not use advisors, thus I ignore the top two tiers of the stacked bar chart.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71AB04B-02A2-3D0F-2956-12F47D3B7C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7612" y="2199074"/>
            <a:ext cx="7010400" cy="3202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21162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7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" dur="500" autoRev="1" fill="remove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9" dur="500" autoRev="1" fill="remove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0" dur="500" autoRev="1" fill="remove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1" dur="500" autoRev="1" fill="remove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2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 build="p"/>
      <p:bldP spid="14" grpId="1" build="p"/>
      <p:bldP spid="14" grpId="2" build="p"/>
      <p:bldP spid="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2284412" y="381000"/>
            <a:ext cx="8382002" cy="1066800"/>
          </a:xfrm>
        </p:spPr>
        <p:txBody>
          <a:bodyPr anchor="b">
            <a:normAutofit/>
          </a:bodyPr>
          <a:lstStyle/>
          <a:p>
            <a:r>
              <a:rPr lang="en-US" sz="5400" dirty="0"/>
              <a:t>Risk Profiling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sz="half" idx="1"/>
          </p:nvPr>
        </p:nvSpPr>
        <p:spPr>
          <a:xfrm>
            <a:off x="379411" y="381000"/>
            <a:ext cx="1905001" cy="1219200"/>
          </a:xfrm>
        </p:spPr>
        <p:txBody>
          <a:bodyPr>
            <a:noAutofit/>
          </a:bodyPr>
          <a:lstStyle/>
          <a:p>
            <a:pPr marL="0" lvl="0" indent="0">
              <a:buNone/>
            </a:pPr>
            <a:r>
              <a:rPr lang="en-US" sz="9600" b="1" dirty="0">
                <a:ln w="9525">
                  <a:noFill/>
                  <a:prstDash val="solid"/>
                </a:ln>
                <a:solidFill>
                  <a:schemeClr val="accent6"/>
                </a:solidFill>
                <a:ea typeface="+mj-ea"/>
                <a:cs typeface="+mj-cs"/>
              </a:rPr>
              <a:t>8</a:t>
            </a:r>
            <a:endParaRPr lang="en-US" sz="9600" dirty="0">
              <a:solidFill>
                <a:schemeClr val="accent6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2D074C-6481-4A8F-89C9-28F2EB4F0423}"/>
              </a:ext>
            </a:extLst>
          </p:cNvPr>
          <p:cNvSpPr txBox="1"/>
          <p:nvPr/>
        </p:nvSpPr>
        <p:spPr>
          <a:xfrm>
            <a:off x="836612" y="1981200"/>
            <a:ext cx="10058400" cy="2665345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>
            <a:spAutoFit/>
          </a:bodyPr>
          <a:lstStyle/>
          <a:p>
            <a:pPr marL="223838" lvl="0" indent="-223838">
              <a:lnSpc>
                <a:spcPct val="90000"/>
              </a:lnSpc>
              <a:spcBef>
                <a:spcPts val="1800"/>
              </a:spcBef>
              <a:buClr>
                <a:srgbClr val="99CB38"/>
              </a:buClr>
              <a:buSzPct val="100000"/>
              <a:buFont typeface="Arial" pitchFamily="34" charset="0"/>
              <a:buChar char="•"/>
              <a:defRPr/>
            </a:pPr>
            <a:r>
              <a:rPr lang="en-US" sz="2400" dirty="0">
                <a:solidFill>
                  <a:prstClr val="white"/>
                </a:solidFill>
              </a:rPr>
              <a:t>Wealthfront has a risk questionnaire that is used to assign a risk score.</a:t>
            </a:r>
          </a:p>
          <a:p>
            <a:pPr marL="463550" lvl="1" indent="-231775">
              <a:lnSpc>
                <a:spcPct val="90000"/>
              </a:lnSpc>
              <a:spcBef>
                <a:spcPts val="1200"/>
              </a:spcBef>
              <a:buClr>
                <a:srgbClr val="99CB38"/>
              </a:buClr>
              <a:buSzPct val="100000"/>
              <a:buFont typeface="Arial" pitchFamily="34" charset="0"/>
              <a:buChar char="•"/>
              <a:defRPr/>
            </a:pPr>
            <a:r>
              <a:rPr lang="en-US" sz="2000" dirty="0">
                <a:solidFill>
                  <a:prstClr val="white"/>
                </a:solidFill>
              </a:rPr>
              <a:t>Risk scores define which of the base allocations to start with.</a:t>
            </a:r>
          </a:p>
          <a:p>
            <a:pPr marL="682625" lvl="2" indent="-219075">
              <a:lnSpc>
                <a:spcPct val="90000"/>
              </a:lnSpc>
              <a:spcBef>
                <a:spcPts val="600"/>
              </a:spcBef>
              <a:buClr>
                <a:srgbClr val="99CB38"/>
              </a:buClr>
              <a:buSzPct val="100000"/>
              <a:buFont typeface="Arial" pitchFamily="34" charset="0"/>
              <a:buChar char="•"/>
              <a:defRPr/>
            </a:pPr>
            <a:r>
              <a:rPr lang="en-US" dirty="0">
                <a:solidFill>
                  <a:prstClr val="white"/>
                </a:solidFill>
              </a:rPr>
              <a:t>The risk analysis questionnaire was not sufficient to capture all risk mitigating factors.</a:t>
            </a:r>
          </a:p>
          <a:p>
            <a:pPr marL="682625" lvl="2" indent="-219075">
              <a:lnSpc>
                <a:spcPct val="90000"/>
              </a:lnSpc>
              <a:spcBef>
                <a:spcPts val="600"/>
              </a:spcBef>
              <a:buClr>
                <a:srgbClr val="99CB38"/>
              </a:buClr>
              <a:buSzPct val="100000"/>
              <a:buFont typeface="Arial" pitchFamily="34" charset="0"/>
              <a:buChar char="•"/>
              <a:defRPr/>
            </a:pPr>
            <a:r>
              <a:rPr lang="en-US" dirty="0">
                <a:solidFill>
                  <a:prstClr val="white"/>
                </a:solidFill>
              </a:rPr>
              <a:t>I increased to match an 80/20 split at 50 and a 90/10 split at 55.</a:t>
            </a:r>
          </a:p>
          <a:p>
            <a:pPr marL="682625" lvl="2" indent="-219075">
              <a:lnSpc>
                <a:spcPct val="90000"/>
              </a:lnSpc>
              <a:spcBef>
                <a:spcPts val="600"/>
              </a:spcBef>
              <a:buClr>
                <a:srgbClr val="99CB38"/>
              </a:buClr>
              <a:buSzPct val="100000"/>
              <a:buFont typeface="Arial" pitchFamily="34" charset="0"/>
              <a:buChar char="•"/>
              <a:defRPr/>
            </a:pPr>
            <a:r>
              <a:rPr lang="en-US" dirty="0">
                <a:solidFill>
                  <a:prstClr val="white"/>
                </a:solidFill>
              </a:rPr>
              <a:t>This aligned with my taking most of my pension as an annuity and not a lump sum distribution as I had initially planned.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3148202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7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" dur="500" autoRev="1" fill="remove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9" dur="500" autoRev="1" fill="remove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0" dur="500" autoRev="1" fill="remove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1" dur="500" autoRev="1" fill="remove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1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 build="p"/>
      <p:bldP spid="14" grpId="1" build="p"/>
      <p:bldP spid="14" grpId="2" build="p"/>
      <p:bldP spid="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2284412" y="381000"/>
            <a:ext cx="8382002" cy="1066800"/>
          </a:xfrm>
        </p:spPr>
        <p:txBody>
          <a:bodyPr anchor="b">
            <a:normAutofit/>
          </a:bodyPr>
          <a:lstStyle/>
          <a:p>
            <a:r>
              <a:rPr lang="en-US" sz="5400" dirty="0"/>
              <a:t>Parametric Rebalancing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sz="half" idx="1"/>
          </p:nvPr>
        </p:nvSpPr>
        <p:spPr>
          <a:xfrm>
            <a:off x="379411" y="381000"/>
            <a:ext cx="1905001" cy="1219200"/>
          </a:xfrm>
        </p:spPr>
        <p:txBody>
          <a:bodyPr>
            <a:noAutofit/>
          </a:bodyPr>
          <a:lstStyle/>
          <a:p>
            <a:pPr marL="0" lvl="0" indent="0">
              <a:buNone/>
            </a:pPr>
            <a:r>
              <a:rPr lang="en-US" sz="9600" b="1" dirty="0">
                <a:ln w="9525">
                  <a:noFill/>
                  <a:prstDash val="solid"/>
                </a:ln>
                <a:solidFill>
                  <a:schemeClr val="accent6"/>
                </a:solidFill>
                <a:ea typeface="+mj-ea"/>
                <a:cs typeface="+mj-cs"/>
              </a:rPr>
              <a:t>7</a:t>
            </a:r>
            <a:endParaRPr lang="en-US" sz="9600" dirty="0">
              <a:solidFill>
                <a:schemeClr val="accent6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2D074C-6481-4A8F-89C9-28F2EB4F0423}"/>
              </a:ext>
            </a:extLst>
          </p:cNvPr>
          <p:cNvSpPr txBox="1"/>
          <p:nvPr/>
        </p:nvSpPr>
        <p:spPr>
          <a:xfrm>
            <a:off x="836612" y="1981200"/>
            <a:ext cx="10058400" cy="3471720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>
            <a:spAutoFit/>
          </a:bodyPr>
          <a:lstStyle/>
          <a:p>
            <a:pPr marL="223838" marR="0" lvl="0" indent="-223838" algn="l" defTabSz="914400" rtl="0" eaLnBrk="1" fontAlgn="auto" latinLnBrk="0" hangingPunct="1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99CB38"/>
              </a:buClr>
              <a:buSzPct val="100000"/>
              <a:buFont typeface="Arial" pitchFamily="34" charset="0"/>
              <a:buChar char="•"/>
              <a:tabLst/>
              <a:defRPr/>
            </a:pPr>
            <a:r>
              <a:rPr lang="en-US" sz="2400" dirty="0">
                <a:solidFill>
                  <a:prstClr val="white"/>
                </a:solidFill>
                <a:latin typeface="Century Gothic" panose="020B0502020202020204"/>
              </a:rPr>
              <a:t>Wealthfront maintains the original assigned allocation.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  <a:p>
            <a:pPr marL="463550" marR="0" lvl="1" indent="-231775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99CB38"/>
              </a:buClr>
              <a:buSzPct val="100000"/>
              <a:buFont typeface="Arial" pitchFamily="34" charset="0"/>
              <a:buChar char="•"/>
              <a:tabLst/>
              <a:defRPr/>
            </a:pPr>
            <a:r>
              <a:rPr lang="en-US" sz="2000" dirty="0">
                <a:solidFill>
                  <a:prstClr val="white"/>
                </a:solidFill>
                <a:latin typeface="Century Gothic" panose="020B0502020202020204"/>
              </a:rPr>
              <a:t>Parameters are used as percentages off before a rebalance occurs.</a:t>
            </a:r>
          </a:p>
          <a:p>
            <a:pPr marL="463550" marR="0" lvl="1" indent="-231775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99CB38"/>
              </a:buClr>
              <a:buSzPct val="100000"/>
              <a:buFont typeface="Arial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If regular deposits are being made or dividends are re-invested, then those are invested to maintain</a:t>
            </a:r>
            <a:r>
              <a:rPr kumimoji="0" lang="en-US" sz="2000" b="0" i="0" u="none" strike="noStrike" kern="1200" cap="none" spc="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asset allocation first.</a:t>
            </a:r>
          </a:p>
          <a:p>
            <a:pPr marL="463550" marR="0" lvl="1" indent="-231775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99CB38"/>
              </a:buClr>
              <a:buSzPct val="100000"/>
              <a:buFont typeface="Arial" pitchFamily="34" charset="0"/>
              <a:buChar char="•"/>
              <a:tabLst/>
              <a:defRPr/>
            </a:pPr>
            <a:r>
              <a:rPr lang="en-US" sz="2000" baseline="0" dirty="0">
                <a:solidFill>
                  <a:prstClr val="white"/>
                </a:solidFill>
                <a:latin typeface="Century Gothic" panose="020B0502020202020204"/>
              </a:rPr>
              <a:t>If a change</a:t>
            </a:r>
            <a:r>
              <a:rPr lang="en-US" sz="2000" dirty="0">
                <a:solidFill>
                  <a:prstClr val="white"/>
                </a:solidFill>
                <a:latin typeface="Century Gothic" panose="020B0502020202020204"/>
              </a:rPr>
              <a:t> in asset class price occurs that exceeds the set parameter limit.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  <a:p>
            <a:pPr marL="682625" marR="0" lvl="2" indent="-219075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99CB38"/>
              </a:buClr>
              <a:buSzPct val="100000"/>
              <a:buFont typeface="Arial" pitchFamily="34" charset="0"/>
              <a:buChar char="•"/>
              <a:tabLst/>
              <a:defRPr/>
            </a:pPr>
            <a:r>
              <a:rPr lang="en-US" dirty="0">
                <a:solidFill>
                  <a:prstClr val="white"/>
                </a:solidFill>
                <a:latin typeface="Century Gothic" panose="020B0502020202020204"/>
              </a:rPr>
              <a:t>Sell higher valued assets and buy lower valued assets to realign.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  <a:p>
            <a:pPr marL="857250" marR="0" lvl="3" indent="-174625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99CB38"/>
              </a:buClr>
              <a:buSzPct val="100000"/>
              <a:buFont typeface="Arial" pitchFamily="34" charset="0"/>
              <a:buChar char="•"/>
              <a:tabLst/>
              <a:defRPr/>
            </a:pPr>
            <a:r>
              <a:rPr lang="en-US" dirty="0">
                <a:solidFill>
                  <a:prstClr val="white"/>
                </a:solidFill>
                <a:latin typeface="Century Gothic" panose="020B0502020202020204"/>
              </a:rPr>
              <a:t>This automatically maintains a sell high - buy low methodology.</a:t>
            </a:r>
          </a:p>
          <a:p>
            <a:pPr marL="857250" marR="0" lvl="3" indent="-174625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99CB38"/>
              </a:buClr>
              <a:buSzPct val="100000"/>
              <a:buFont typeface="Arial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The</a:t>
            </a:r>
            <a:r>
              <a:rPr kumimoji="0" lang="en-US" sz="1800" b="0" i="0" u="none" strike="noStrike" kern="1200" cap="none" spc="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parameter makes the sales as soon as a percentage of drift has occurred rather than on fixed dates like end of year or middle of year or quarterly which are arbitrary.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9267728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7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" dur="500" autoRev="1" fill="remove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9" dur="500" autoRev="1" fill="remove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0" dur="500" autoRev="1" fill="remove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1" dur="500" autoRev="1" fill="remove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1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 build="p"/>
      <p:bldP spid="14" grpId="1" build="p"/>
      <p:bldP spid="14" grpId="2" build="p"/>
      <p:bldP spid="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2284412" y="381000"/>
            <a:ext cx="8382002" cy="1066800"/>
          </a:xfrm>
        </p:spPr>
        <p:txBody>
          <a:bodyPr anchor="b">
            <a:normAutofit/>
          </a:bodyPr>
          <a:lstStyle/>
          <a:p>
            <a:r>
              <a:rPr lang="en-US" sz="5400" dirty="0"/>
              <a:t>Tax Loss Harvesting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sz="half" idx="1"/>
          </p:nvPr>
        </p:nvSpPr>
        <p:spPr>
          <a:xfrm>
            <a:off x="379411" y="381000"/>
            <a:ext cx="1905001" cy="1219200"/>
          </a:xfrm>
        </p:spPr>
        <p:txBody>
          <a:bodyPr>
            <a:noAutofit/>
          </a:bodyPr>
          <a:lstStyle/>
          <a:p>
            <a:pPr marL="0" lvl="0" indent="0">
              <a:buNone/>
            </a:pPr>
            <a:r>
              <a:rPr lang="en-US" sz="9600" b="1" dirty="0">
                <a:ln w="9525">
                  <a:noFill/>
                  <a:prstDash val="solid"/>
                </a:ln>
                <a:solidFill>
                  <a:schemeClr val="accent6"/>
                </a:solidFill>
                <a:ea typeface="+mj-ea"/>
                <a:cs typeface="+mj-cs"/>
              </a:rPr>
              <a:t>6</a:t>
            </a:r>
            <a:endParaRPr lang="en-US" sz="9600" dirty="0">
              <a:solidFill>
                <a:schemeClr val="accent6"/>
              </a:solidFill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48D15E8-1453-23E1-835F-7D2032A3FA79}"/>
              </a:ext>
            </a:extLst>
          </p:cNvPr>
          <p:cNvGrpSpPr/>
          <p:nvPr/>
        </p:nvGrpSpPr>
        <p:grpSpPr>
          <a:xfrm>
            <a:off x="684211" y="1981200"/>
            <a:ext cx="11173662" cy="4296561"/>
            <a:chOff x="684211" y="1981200"/>
            <a:chExt cx="11173662" cy="4296561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D2D074C-6481-4A8F-89C9-28F2EB4F0423}"/>
                </a:ext>
              </a:extLst>
            </p:cNvPr>
            <p:cNvSpPr txBox="1"/>
            <p:nvPr/>
          </p:nvSpPr>
          <p:spPr>
            <a:xfrm>
              <a:off x="684211" y="1981200"/>
              <a:ext cx="10945061" cy="4296561"/>
            </a:xfrm>
            <a:prstGeom prst="rect">
              <a:avLst/>
            </a:prstGeom>
            <a:noFill/>
            <a:ln>
              <a:solidFill>
                <a:schemeClr val="bg2"/>
              </a:solidFill>
            </a:ln>
          </p:spPr>
          <p:txBody>
            <a:bodyPr wrap="square">
              <a:spAutoFit/>
            </a:bodyPr>
            <a:lstStyle/>
            <a:p>
              <a:pPr marL="223838" marR="0" lvl="0" indent="-223838" algn="l" defTabSz="914400" rtl="0" eaLnBrk="1" fontAlgn="auto" latinLnBrk="0" hangingPunct="1">
                <a:lnSpc>
                  <a:spcPct val="90000"/>
                </a:lnSpc>
                <a:spcBef>
                  <a:spcPts val="1800"/>
                </a:spcBef>
                <a:spcAft>
                  <a:spcPts val="0"/>
                </a:spcAft>
                <a:buClr>
                  <a:srgbClr val="99CB38"/>
                </a:buClr>
                <a:buSzPct val="100000"/>
                <a:buFont typeface="Arial" pitchFamily="34" charset="0"/>
                <a:buChar char="•"/>
                <a:tabLst/>
                <a:defRPr/>
              </a:pPr>
              <a:r>
                <a:rPr lang="en-US" sz="2400" dirty="0">
                  <a:solidFill>
                    <a:prstClr val="white"/>
                  </a:solidFill>
                  <a:latin typeface="Century Gothic" panose="020B0502020202020204"/>
                </a:rPr>
                <a:t>Wealthfront will automatically perform tax loss harvesting based on a parametrized decrease in price.</a:t>
              </a: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  <a:p>
              <a:pPr marL="463550" marR="0" lvl="1" indent="-231775" algn="l" defTabSz="914400" rtl="0" eaLnBrk="1" fontAlgn="auto" latinLnBrk="0" hangingPunct="1">
                <a:lnSpc>
                  <a:spcPct val="90000"/>
                </a:lnSpc>
                <a:spcBef>
                  <a:spcPts val="1200"/>
                </a:spcBef>
                <a:spcAft>
                  <a:spcPts val="0"/>
                </a:spcAft>
                <a:buClr>
                  <a:srgbClr val="99CB38"/>
                </a:buClr>
                <a:buSzPct val="100000"/>
                <a:buFont typeface="Arial" pitchFamily="34" charset="0"/>
                <a:buChar char="•"/>
                <a:tabLst/>
                <a:defRPr/>
              </a:pPr>
              <a:r>
                <a:rPr lang="en-US" sz="2000" dirty="0">
                  <a:solidFill>
                    <a:prstClr val="white"/>
                  </a:solidFill>
                  <a:latin typeface="Century Gothic" panose="020B0502020202020204"/>
                </a:rPr>
                <a:t>These harvested losses can </a:t>
              </a:r>
              <a:br>
                <a:rPr lang="en-US" sz="2000" dirty="0">
                  <a:solidFill>
                    <a:prstClr val="white"/>
                  </a:solidFill>
                  <a:latin typeface="Century Gothic" panose="020B0502020202020204"/>
                </a:rPr>
              </a:br>
              <a:r>
                <a:rPr lang="en-US" sz="2000" dirty="0">
                  <a:solidFill>
                    <a:prstClr val="white"/>
                  </a:solidFill>
                  <a:latin typeface="Century Gothic" panose="020B0502020202020204"/>
                </a:rPr>
                <a:t>then be used to offset gains.</a:t>
              </a:r>
            </a:p>
            <a:p>
              <a:pPr marL="463550" marR="0" lvl="1" indent="-231775" algn="l" defTabSz="914400" rtl="0" eaLnBrk="1" fontAlgn="auto" latinLnBrk="0" hangingPunct="1">
                <a:lnSpc>
                  <a:spcPct val="90000"/>
                </a:lnSpc>
                <a:spcBef>
                  <a:spcPts val="1200"/>
                </a:spcBef>
                <a:spcAft>
                  <a:spcPts val="0"/>
                </a:spcAft>
                <a:buClr>
                  <a:srgbClr val="99CB38"/>
                </a:buClr>
                <a:buSzPct val="100000"/>
                <a:buFont typeface="Arial" pitchFamily="34" charset="0"/>
                <a:buChar char="•"/>
                <a:tabLst/>
                <a:defRPr/>
              </a:pPr>
              <a:r>
                <a:rPr lang="en-US" sz="2000" dirty="0">
                  <a:solidFill>
                    <a:prstClr val="white"/>
                  </a:solidFill>
                  <a:latin typeface="Century Gothic" panose="020B0502020202020204"/>
                </a:rPr>
                <a:t>$3000</a:t>
              </a: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+mn-cs"/>
                </a:rPr>
                <a:t> may also be used to lower</a:t>
              </a:r>
              <a:b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+mn-cs"/>
                </a:rPr>
              </a:b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+mn-cs"/>
                </a:rPr>
                <a:t>tax </a:t>
              </a:r>
              <a:r>
                <a:rPr lang="en-US" sz="2000" dirty="0">
                  <a:solidFill>
                    <a:prstClr val="white"/>
                  </a:solidFill>
                  <a:latin typeface="Century Gothic" panose="020B0502020202020204"/>
                </a:rPr>
                <a:t>liability.</a:t>
              </a:r>
            </a:p>
            <a:p>
              <a:pPr marL="463550" marR="0" lvl="1" indent="-231775" algn="l" defTabSz="914400" rtl="0" eaLnBrk="1" fontAlgn="auto" latinLnBrk="0" hangingPunct="1">
                <a:lnSpc>
                  <a:spcPct val="90000"/>
                </a:lnSpc>
                <a:spcBef>
                  <a:spcPts val="1200"/>
                </a:spcBef>
                <a:spcAft>
                  <a:spcPts val="0"/>
                </a:spcAft>
                <a:buClr>
                  <a:srgbClr val="99CB38"/>
                </a:buClr>
                <a:buSzPct val="100000"/>
                <a:buFont typeface="Arial" pitchFamily="34" charset="0"/>
                <a:buChar char="•"/>
                <a:tabLst/>
                <a:defRPr/>
              </a:pPr>
              <a:r>
                <a:rPr lang="en-US" sz="2000" dirty="0">
                  <a:solidFill>
                    <a:prstClr val="white"/>
                  </a:solidFill>
                  <a:latin typeface="Century Gothic" panose="020B0502020202020204"/>
                </a:rPr>
                <a:t>Any remaining losses may be</a:t>
              </a:r>
              <a:br>
                <a:rPr lang="en-US" sz="2000" dirty="0">
                  <a:solidFill>
                    <a:prstClr val="white"/>
                  </a:solidFill>
                  <a:latin typeface="Century Gothic" panose="020B0502020202020204"/>
                </a:rPr>
              </a:br>
              <a:r>
                <a:rPr lang="en-US" sz="2000" dirty="0">
                  <a:solidFill>
                    <a:prstClr val="white"/>
                  </a:solidFill>
                  <a:latin typeface="Century Gothic" panose="020B0502020202020204"/>
                </a:rPr>
                <a:t>carried forward to the next tax year.</a:t>
              </a:r>
            </a:p>
            <a:p>
              <a:pPr marL="463550" marR="0" lvl="1" indent="-231775" algn="l" defTabSz="914400" rtl="0" eaLnBrk="1" fontAlgn="auto" latinLnBrk="0" hangingPunct="1">
                <a:lnSpc>
                  <a:spcPct val="90000"/>
                </a:lnSpc>
                <a:spcBef>
                  <a:spcPts val="1200"/>
                </a:spcBef>
                <a:spcAft>
                  <a:spcPts val="0"/>
                </a:spcAft>
                <a:buClr>
                  <a:srgbClr val="99CB38"/>
                </a:buClr>
                <a:buSzPct val="100000"/>
                <a:buFont typeface="Arial" pitchFamily="34" charset="0"/>
                <a:buChar char="•"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+mn-cs"/>
                </a:rPr>
                <a:t>Wealthfront understands limitations</a:t>
              </a:r>
              <a:br>
                <a:rPr lang="en-US" sz="2000" dirty="0">
                  <a:solidFill>
                    <a:prstClr val="white"/>
                  </a:solidFill>
                  <a:latin typeface="Century Gothic" panose="020B0502020202020204"/>
                </a:rPr>
              </a:br>
              <a:r>
                <a:rPr lang="en-US" sz="2000" dirty="0">
                  <a:solidFill>
                    <a:prstClr val="white"/>
                  </a:solidFill>
                  <a:latin typeface="Century Gothic" panose="020B0502020202020204"/>
                </a:rPr>
                <a:t>such as the wash sale rule.</a:t>
              </a:r>
            </a:p>
            <a:p>
              <a:pPr marL="463550" marR="0" lvl="1" indent="-231775" algn="l" defTabSz="914400" rtl="0" eaLnBrk="1" fontAlgn="auto" latinLnBrk="0" hangingPunct="1">
                <a:lnSpc>
                  <a:spcPct val="90000"/>
                </a:lnSpc>
                <a:spcBef>
                  <a:spcPts val="1200"/>
                </a:spcBef>
                <a:spcAft>
                  <a:spcPts val="0"/>
                </a:spcAft>
                <a:buClr>
                  <a:srgbClr val="99CB38"/>
                </a:buClr>
                <a:buSzPct val="100000"/>
                <a:buFont typeface="Arial" pitchFamily="34" charset="0"/>
                <a:buChar char="•"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+mn-cs"/>
                </a:rPr>
                <a:t>Wealthfront</a:t>
              </a:r>
              <a:r>
                <a:rPr kumimoji="0" lang="en-US" sz="2000" b="0" i="0" u="none" strike="noStrike" kern="1200" cap="none" spc="0" normalizeH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+mn-cs"/>
                </a:rPr>
                <a:t> also understands how to</a:t>
              </a:r>
              <a:br>
                <a:rPr kumimoji="0" lang="en-US" sz="2000" b="0" i="0" u="none" strike="noStrike" kern="1200" cap="none" spc="0" normalizeH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+mn-cs"/>
                </a:rPr>
              </a:br>
              <a:r>
                <a:rPr kumimoji="0" lang="en-US" sz="2000" b="0" i="0" u="none" strike="noStrike" kern="1200" cap="none" spc="0" normalizeH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+mn-cs"/>
                </a:rPr>
                <a:t>apply short term versus long term losses.</a:t>
              </a:r>
              <a:endPara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59CEE748-08D7-D179-02A8-F3707A4E0EA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170612" y="2438400"/>
              <a:ext cx="5687261" cy="373432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5596004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7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" dur="500" autoRev="1" fill="remove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9" dur="500" autoRev="1" fill="remove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0" dur="500" autoRev="1" fill="remove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1" dur="500" autoRev="1" fill="remove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2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 build="p"/>
      <p:bldP spid="14" grpId="1" build="p"/>
      <p:bldP spid="14" grpId="2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2284412" y="381000"/>
            <a:ext cx="8382002" cy="1066800"/>
          </a:xfrm>
        </p:spPr>
        <p:txBody>
          <a:bodyPr anchor="b">
            <a:normAutofit/>
          </a:bodyPr>
          <a:lstStyle/>
          <a:p>
            <a:r>
              <a:rPr lang="en-US" sz="5400" dirty="0"/>
              <a:t>Tax Loss Harvesting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sz="half" idx="1"/>
          </p:nvPr>
        </p:nvSpPr>
        <p:spPr>
          <a:xfrm>
            <a:off x="379411" y="381000"/>
            <a:ext cx="1905001" cy="1219200"/>
          </a:xfrm>
        </p:spPr>
        <p:txBody>
          <a:bodyPr>
            <a:noAutofit/>
          </a:bodyPr>
          <a:lstStyle/>
          <a:p>
            <a:pPr marL="0" lvl="0" indent="0">
              <a:buNone/>
            </a:pPr>
            <a:r>
              <a:rPr lang="en-US" sz="9600" b="1" dirty="0">
                <a:ln w="9525">
                  <a:noFill/>
                  <a:prstDash val="solid"/>
                </a:ln>
                <a:solidFill>
                  <a:schemeClr val="accent6"/>
                </a:solidFill>
                <a:ea typeface="+mj-ea"/>
                <a:cs typeface="+mj-cs"/>
              </a:rPr>
              <a:t>5</a:t>
            </a:r>
            <a:endParaRPr lang="en-US" sz="9600" dirty="0">
              <a:solidFill>
                <a:schemeClr val="accent6"/>
              </a:solidFill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C388610-EE86-79B5-4F0A-A375AD935F63}"/>
              </a:ext>
            </a:extLst>
          </p:cNvPr>
          <p:cNvGrpSpPr/>
          <p:nvPr/>
        </p:nvGrpSpPr>
        <p:grpSpPr>
          <a:xfrm>
            <a:off x="1217612" y="1981200"/>
            <a:ext cx="10802060" cy="4620121"/>
            <a:chOff x="1217612" y="1981200"/>
            <a:chExt cx="10802060" cy="4620121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D2D074C-6481-4A8F-89C9-28F2EB4F0423}"/>
                </a:ext>
              </a:extLst>
            </p:cNvPr>
            <p:cNvSpPr txBox="1"/>
            <p:nvPr/>
          </p:nvSpPr>
          <p:spPr>
            <a:xfrm>
              <a:off x="1217612" y="1981200"/>
              <a:ext cx="5600700" cy="2215991"/>
            </a:xfrm>
            <a:prstGeom prst="rect">
              <a:avLst/>
            </a:prstGeom>
            <a:noFill/>
            <a:ln>
              <a:solidFill>
                <a:schemeClr val="bg2"/>
              </a:solidFill>
            </a:ln>
          </p:spPr>
          <p:txBody>
            <a:bodyPr wrap="square">
              <a:spAutoFit/>
            </a:bodyPr>
            <a:lstStyle/>
            <a:p>
              <a:pPr marL="223838" marR="0" lvl="0" indent="-223838" algn="l" defTabSz="914400" rtl="0" eaLnBrk="1" fontAlgn="auto" latinLnBrk="0" hangingPunct="1">
                <a:lnSpc>
                  <a:spcPct val="90000"/>
                </a:lnSpc>
                <a:spcBef>
                  <a:spcPts val="1800"/>
                </a:spcBef>
                <a:spcAft>
                  <a:spcPts val="0"/>
                </a:spcAft>
                <a:buClr>
                  <a:srgbClr val="99CB38"/>
                </a:buClr>
                <a:buSzPct val="100000"/>
                <a:buFont typeface="Arial" pitchFamily="34" charset="0"/>
                <a:buChar char="•"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+mn-cs"/>
                </a:rPr>
                <a:t>Wealthfront publishes actual TLH metrics for all risk scores historically.</a:t>
              </a:r>
            </a:p>
            <a:p>
              <a:pPr marL="223838" marR="0" lvl="0" indent="-223838" algn="l" defTabSz="914400" rtl="0" eaLnBrk="1" fontAlgn="auto" latinLnBrk="0" hangingPunct="1">
                <a:lnSpc>
                  <a:spcPct val="90000"/>
                </a:lnSpc>
                <a:spcBef>
                  <a:spcPts val="1800"/>
                </a:spcBef>
                <a:spcAft>
                  <a:spcPts val="0"/>
                </a:spcAft>
                <a:buClr>
                  <a:srgbClr val="99CB38"/>
                </a:buClr>
                <a:buSzPct val="100000"/>
                <a:buFont typeface="Arial" pitchFamily="34" charset="0"/>
                <a:buChar char="•"/>
                <a:tabLst/>
                <a:defRPr/>
              </a:pPr>
              <a:r>
                <a:rPr lang="en-US" sz="2400" dirty="0">
                  <a:solidFill>
                    <a:prstClr val="white"/>
                  </a:solidFill>
                  <a:latin typeface="Century Gothic" panose="020B0502020202020204"/>
                </a:rPr>
                <a:t>Daily TLH versus annual TLH compared.</a:t>
              </a: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  <a:p>
              <a:pPr marL="223838" marR="0" lvl="0" indent="-223838" algn="l" defTabSz="914400" rtl="0" eaLnBrk="1" fontAlgn="auto" latinLnBrk="0" hangingPunct="1">
                <a:lnSpc>
                  <a:spcPct val="90000"/>
                </a:lnSpc>
                <a:spcBef>
                  <a:spcPts val="1800"/>
                </a:spcBef>
                <a:spcAft>
                  <a:spcPts val="0"/>
                </a:spcAft>
                <a:buClr>
                  <a:srgbClr val="99CB38"/>
                </a:buClr>
                <a:buSzPct val="100000"/>
                <a:buFont typeface="Arial" pitchFamily="34" charset="0"/>
                <a:buChar char="•"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C393A2EC-61A0-AEDE-41B7-904B49770B7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932612" y="2697131"/>
              <a:ext cx="5087060" cy="3801005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185D0E0C-9A95-FF7B-33A5-FE70CC74473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641732" y="3633960"/>
              <a:ext cx="4176580" cy="296736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5562329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7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" dur="500" autoRev="1" fill="remove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9" dur="500" autoRev="1" fill="remove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0" dur="500" autoRev="1" fill="remove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1" dur="500" autoRev="1" fill="remove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2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 build="p"/>
      <p:bldP spid="14" grpId="1" build="p"/>
      <p:bldP spid="14" grpId="2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2284412" y="381000"/>
            <a:ext cx="8382002" cy="1066800"/>
          </a:xfrm>
        </p:spPr>
        <p:txBody>
          <a:bodyPr anchor="b">
            <a:normAutofit/>
          </a:bodyPr>
          <a:lstStyle/>
          <a:p>
            <a:r>
              <a:rPr lang="en-US" sz="5400" dirty="0"/>
              <a:t>Direct Indexing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sz="half" idx="1"/>
          </p:nvPr>
        </p:nvSpPr>
        <p:spPr>
          <a:xfrm>
            <a:off x="379411" y="381000"/>
            <a:ext cx="1905001" cy="1219200"/>
          </a:xfrm>
        </p:spPr>
        <p:txBody>
          <a:bodyPr>
            <a:noAutofit/>
          </a:bodyPr>
          <a:lstStyle/>
          <a:p>
            <a:pPr marL="0" lvl="0" indent="0">
              <a:buNone/>
            </a:pPr>
            <a:r>
              <a:rPr lang="en-US" sz="9600" b="1" dirty="0">
                <a:ln w="9525">
                  <a:noFill/>
                  <a:prstDash val="solid"/>
                </a:ln>
                <a:solidFill>
                  <a:schemeClr val="accent6"/>
                </a:solidFill>
                <a:ea typeface="+mj-ea"/>
                <a:cs typeface="+mj-cs"/>
              </a:rPr>
              <a:t>4</a:t>
            </a:r>
            <a:endParaRPr lang="en-US" sz="9600" dirty="0">
              <a:solidFill>
                <a:schemeClr val="accent6"/>
              </a:solidFill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34A09FA-8B74-9128-9D0B-75EC93892D4E}"/>
              </a:ext>
            </a:extLst>
          </p:cNvPr>
          <p:cNvGrpSpPr/>
          <p:nvPr/>
        </p:nvGrpSpPr>
        <p:grpSpPr>
          <a:xfrm>
            <a:off x="684212" y="1981200"/>
            <a:ext cx="10972800" cy="4410425"/>
            <a:chOff x="684212" y="1981200"/>
            <a:chExt cx="10972800" cy="4410425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D2D074C-6481-4A8F-89C9-28F2EB4F0423}"/>
                </a:ext>
              </a:extLst>
            </p:cNvPr>
            <p:cNvSpPr txBox="1"/>
            <p:nvPr/>
          </p:nvSpPr>
          <p:spPr>
            <a:xfrm>
              <a:off x="684212" y="1981200"/>
              <a:ext cx="10972800" cy="2942344"/>
            </a:xfrm>
            <a:prstGeom prst="rect">
              <a:avLst/>
            </a:prstGeom>
            <a:noFill/>
            <a:ln>
              <a:solidFill>
                <a:schemeClr val="bg2"/>
              </a:solidFill>
            </a:ln>
          </p:spPr>
          <p:txBody>
            <a:bodyPr wrap="square">
              <a:spAutoFit/>
            </a:bodyPr>
            <a:lstStyle/>
            <a:p>
              <a:pPr marL="223838" marR="0" lvl="0" indent="-223838" algn="l" defTabSz="914400" rtl="0" eaLnBrk="1" fontAlgn="auto" latinLnBrk="0" hangingPunct="1">
                <a:lnSpc>
                  <a:spcPct val="90000"/>
                </a:lnSpc>
                <a:spcBef>
                  <a:spcPts val="1800"/>
                </a:spcBef>
                <a:spcAft>
                  <a:spcPts val="0"/>
                </a:spcAft>
                <a:buClr>
                  <a:srgbClr val="99CB38"/>
                </a:buClr>
                <a:buSzPct val="100000"/>
                <a:buFont typeface="Arial" pitchFamily="34" charset="0"/>
                <a:buChar char="•"/>
                <a:tabLst/>
                <a:defRPr/>
              </a:pPr>
              <a:r>
                <a:rPr lang="en-US" sz="2400" dirty="0">
                  <a:solidFill>
                    <a:prstClr val="white"/>
                  </a:solidFill>
                  <a:latin typeface="Century Gothic" panose="020B0502020202020204"/>
                </a:rPr>
                <a:t>Wealthfront also performs direct indexing using 100 individual stocks from the S&amp;P 500.</a:t>
              </a: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  <a:p>
              <a:pPr marL="463550" marR="0" lvl="1" indent="-231775" algn="l" defTabSz="914400" rtl="0" eaLnBrk="1" fontAlgn="auto" latinLnBrk="0" hangingPunct="1">
                <a:lnSpc>
                  <a:spcPct val="90000"/>
                </a:lnSpc>
                <a:spcBef>
                  <a:spcPts val="1200"/>
                </a:spcBef>
                <a:spcAft>
                  <a:spcPts val="0"/>
                </a:spcAft>
                <a:buClr>
                  <a:srgbClr val="99CB38"/>
                </a:buClr>
                <a:buSzPct val="100000"/>
                <a:buFont typeface="Arial" pitchFamily="34" charset="0"/>
                <a:buChar char="•"/>
                <a:tabLst/>
                <a:defRPr/>
              </a:pPr>
              <a:r>
                <a:rPr lang="en-US" sz="2000" dirty="0">
                  <a:solidFill>
                    <a:prstClr val="white"/>
                  </a:solidFill>
                  <a:latin typeface="Century Gothic" panose="020B0502020202020204"/>
                </a:rPr>
                <a:t>This allows more tax loss harvesting as the individual stocks making up the index are more volatile than the index proper.</a:t>
              </a:r>
              <a:endPara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  <a:p>
              <a:pPr marL="682625" marR="0" lvl="2" indent="-219075" algn="l" defTabSz="914400" rtl="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99CB38"/>
                </a:buClr>
                <a:buSzPct val="100000"/>
                <a:buFont typeface="Arial" pitchFamily="34" charset="0"/>
                <a:buChar char="•"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+mn-cs"/>
                </a:rPr>
                <a:t>This is only available at $100,000 level on taxable accounts</a:t>
              </a:r>
              <a:r>
                <a:rPr kumimoji="0" lang="en-US" sz="1800" b="0" i="0" u="none" strike="noStrike" kern="1200" cap="none" spc="0" normalizeH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+mn-cs"/>
                </a:rPr>
                <a:t>.</a:t>
              </a:r>
            </a:p>
            <a:p>
              <a:pPr marL="682625" marR="0" lvl="2" indent="-219075" algn="l" defTabSz="914400" rtl="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99CB38"/>
                </a:buClr>
                <a:buSzPct val="100000"/>
                <a:buFont typeface="Arial" pitchFamily="34" charset="0"/>
                <a:buChar char="•"/>
                <a:tabLst/>
                <a:defRPr/>
              </a:pPr>
              <a:r>
                <a:rPr lang="en-US" baseline="0" dirty="0">
                  <a:solidFill>
                    <a:prstClr val="white"/>
                  </a:solidFill>
                  <a:latin typeface="Century Gothic" panose="020B0502020202020204"/>
                </a:rPr>
                <a:t>The table shown compares</a:t>
              </a:r>
              <a:r>
                <a:rPr lang="en-US" dirty="0">
                  <a:solidFill>
                    <a:prstClr val="white"/>
                  </a:solidFill>
                  <a:latin typeface="Century Gothic" panose="020B0502020202020204"/>
                </a:rPr>
                <a:t> the TLH adjusted yields of </a:t>
              </a:r>
              <a:br>
                <a:rPr lang="en-US" dirty="0">
                  <a:solidFill>
                    <a:prstClr val="white"/>
                  </a:solidFill>
                  <a:latin typeface="Century Gothic" panose="020B0502020202020204"/>
                </a:rPr>
              </a:br>
              <a:r>
                <a:rPr lang="en-US" dirty="0">
                  <a:solidFill>
                    <a:prstClr val="white"/>
                  </a:solidFill>
                  <a:latin typeface="Century Gothic" panose="020B0502020202020204"/>
                </a:rPr>
                <a:t>direct indexing versus the VTI ETF.</a:t>
              </a:r>
            </a:p>
            <a:p>
              <a:pPr marL="682625" marR="0" lvl="2" indent="-219075" algn="l" defTabSz="914400" rtl="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99CB38"/>
                </a:buClr>
                <a:buSzPct val="100000"/>
                <a:buFont typeface="Arial" pitchFamily="34" charset="0"/>
                <a:buChar char="•"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+mn-cs"/>
                </a:rPr>
                <a:t>This demonstrates the tax advantages of direct indexing</a:t>
              </a:r>
              <a:b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+mn-cs"/>
                </a:rPr>
              </a:b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+mn-cs"/>
                </a:rPr>
                <a:t>over normal ETFs</a:t>
              </a:r>
              <a:r>
                <a:rPr kumimoji="0" lang="en-US" sz="1800" b="0" i="0" u="none" strike="noStrike" kern="1200" cap="none" spc="0" normalizeH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+mn-cs"/>
                </a:rPr>
                <a:t> with TLH.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9690A8FA-52BA-AE29-C269-CCCAD00DE37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760743" y="3886200"/>
              <a:ext cx="3896269" cy="250542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3567331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7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" dur="500" autoRev="1" fill="remove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9" dur="500" autoRev="1" fill="remove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0" dur="500" autoRev="1" fill="remove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1" dur="500" autoRev="1" fill="remove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1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 build="p"/>
      <p:bldP spid="14" grpId="1" build="p"/>
      <p:bldP spid="14" grpId="2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2284412" y="381000"/>
            <a:ext cx="8382002" cy="1066800"/>
          </a:xfrm>
        </p:spPr>
        <p:txBody>
          <a:bodyPr anchor="b">
            <a:normAutofit/>
          </a:bodyPr>
          <a:lstStyle/>
          <a:p>
            <a:r>
              <a:rPr lang="en-US" sz="5400" dirty="0"/>
              <a:t>My annualized returns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sz="half" idx="1"/>
          </p:nvPr>
        </p:nvSpPr>
        <p:spPr>
          <a:xfrm>
            <a:off x="379411" y="381000"/>
            <a:ext cx="1905001" cy="1219200"/>
          </a:xfrm>
        </p:spPr>
        <p:txBody>
          <a:bodyPr>
            <a:noAutofit/>
          </a:bodyPr>
          <a:lstStyle/>
          <a:p>
            <a:pPr marL="0" lvl="0" indent="0">
              <a:buNone/>
            </a:pPr>
            <a:r>
              <a:rPr lang="en-US" sz="9600" b="1" dirty="0">
                <a:ln w="9525">
                  <a:noFill/>
                  <a:prstDash val="solid"/>
                </a:ln>
                <a:solidFill>
                  <a:schemeClr val="accent6"/>
                </a:solidFill>
                <a:ea typeface="+mj-ea"/>
                <a:cs typeface="+mj-cs"/>
              </a:rPr>
              <a:t>3</a:t>
            </a:r>
            <a:endParaRPr lang="en-US" sz="9600" dirty="0">
              <a:solidFill>
                <a:schemeClr val="accent6"/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711F481B-C6E1-CDC3-4483-F0F75033B0A3}"/>
              </a:ext>
            </a:extLst>
          </p:cNvPr>
          <p:cNvGrpSpPr/>
          <p:nvPr/>
        </p:nvGrpSpPr>
        <p:grpSpPr>
          <a:xfrm>
            <a:off x="1217612" y="1741418"/>
            <a:ext cx="7189786" cy="4841971"/>
            <a:chOff x="1217612" y="1741418"/>
            <a:chExt cx="7189786" cy="4841971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D2D074C-6481-4A8F-89C9-28F2EB4F0423}"/>
                </a:ext>
              </a:extLst>
            </p:cNvPr>
            <p:cNvSpPr txBox="1"/>
            <p:nvPr/>
          </p:nvSpPr>
          <p:spPr>
            <a:xfrm>
              <a:off x="1217612" y="1741418"/>
              <a:ext cx="7189786" cy="2215991"/>
            </a:xfrm>
            <a:prstGeom prst="rect">
              <a:avLst/>
            </a:prstGeom>
            <a:noFill/>
            <a:ln>
              <a:solidFill>
                <a:schemeClr val="bg2"/>
              </a:solidFill>
            </a:ln>
          </p:spPr>
          <p:txBody>
            <a:bodyPr wrap="square">
              <a:spAutoFit/>
            </a:bodyPr>
            <a:lstStyle/>
            <a:p>
              <a:pPr marL="223838" marR="0" lvl="0" indent="-223838" algn="l" defTabSz="914400" rtl="0" eaLnBrk="1" fontAlgn="auto" latinLnBrk="0" hangingPunct="1">
                <a:lnSpc>
                  <a:spcPct val="90000"/>
                </a:lnSpc>
                <a:spcBef>
                  <a:spcPts val="1800"/>
                </a:spcBef>
                <a:spcAft>
                  <a:spcPts val="0"/>
                </a:spcAft>
                <a:buClr>
                  <a:srgbClr val="99CB38"/>
                </a:buClr>
                <a:buSzPct val="100000"/>
                <a:buFont typeface="Arial" pitchFamily="34" charset="0"/>
                <a:buChar char="•"/>
                <a:tabLst/>
                <a:defRPr/>
              </a:pPr>
              <a:r>
                <a:rPr lang="en-US" sz="2400" dirty="0">
                  <a:solidFill>
                    <a:prstClr val="white"/>
                  </a:solidFill>
                  <a:latin typeface="Century Gothic" panose="020B0502020202020204"/>
                </a:rPr>
                <a:t>Taxable Account</a:t>
              </a:r>
            </a:p>
            <a:p>
              <a:pPr marL="223838" marR="0" lvl="0" indent="-223838" algn="l" defTabSz="914400" rtl="0" eaLnBrk="1" fontAlgn="auto" latinLnBrk="0" hangingPunct="1">
                <a:lnSpc>
                  <a:spcPct val="90000"/>
                </a:lnSpc>
                <a:spcBef>
                  <a:spcPts val="1800"/>
                </a:spcBef>
                <a:spcAft>
                  <a:spcPts val="0"/>
                </a:spcAft>
                <a:buClr>
                  <a:srgbClr val="99CB38"/>
                </a:buClr>
                <a:buSzPct val="100000"/>
                <a:buFont typeface="Arial" pitchFamily="34" charset="0"/>
                <a:buChar char="•"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+mn-cs"/>
                </a:rPr>
                <a:t>Shown are my current allocations</a:t>
              </a:r>
              <a:b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+mn-cs"/>
                </a:rPr>
              </a:b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+mn-cs"/>
                </a:rPr>
                <a:t>and</a:t>
              </a:r>
              <a:r>
                <a:rPr kumimoji="0" lang="en-US" sz="2400" b="0" i="0" u="none" strike="noStrike" kern="1200" cap="none" spc="0" normalizeH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+mn-cs"/>
                </a:rPr>
                <a:t> annual returns.</a:t>
              </a:r>
            </a:p>
            <a:p>
              <a:pPr marL="223838" marR="0" lvl="0" indent="-223838" algn="l" defTabSz="914400" rtl="0" eaLnBrk="1" fontAlgn="auto" latinLnBrk="0" hangingPunct="1">
                <a:lnSpc>
                  <a:spcPct val="90000"/>
                </a:lnSpc>
                <a:spcBef>
                  <a:spcPts val="1800"/>
                </a:spcBef>
                <a:spcAft>
                  <a:spcPts val="0"/>
                </a:spcAft>
                <a:buClr>
                  <a:srgbClr val="99CB38"/>
                </a:buClr>
                <a:buSzPct val="100000"/>
                <a:buFont typeface="Arial" pitchFamily="34" charset="0"/>
                <a:buChar char="•"/>
                <a:tabLst/>
                <a:defRPr/>
              </a:pPr>
              <a:r>
                <a:rPr lang="en-US" sz="2400" dirty="0">
                  <a:solidFill>
                    <a:prstClr val="white"/>
                  </a:solidFill>
                  <a:latin typeface="Century Gothic" panose="020B0502020202020204"/>
                </a:rPr>
                <a:t>2017 was partial from April and </a:t>
              </a:r>
              <a:br>
                <a:rPr lang="en-US" sz="2400" dirty="0">
                  <a:solidFill>
                    <a:prstClr val="white"/>
                  </a:solidFill>
                  <a:latin typeface="Century Gothic" panose="020B0502020202020204"/>
                </a:rPr>
              </a:br>
              <a:r>
                <a:rPr lang="en-US" sz="2400" dirty="0">
                  <a:solidFill>
                    <a:prstClr val="white"/>
                  </a:solidFill>
                  <a:latin typeface="Century Gothic" panose="020B0502020202020204"/>
                </a:rPr>
                <a:t>2025 is year to date April.</a:t>
              </a: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545FFB3-0209-698F-7CF4-80FFE922D725}"/>
                </a:ext>
              </a:extLst>
            </p:cNvPr>
            <p:cNvSpPr txBox="1"/>
            <p:nvPr/>
          </p:nvSpPr>
          <p:spPr>
            <a:xfrm>
              <a:off x="2560353" y="3998066"/>
              <a:ext cx="2252152" cy="2585323"/>
            </a:xfrm>
            <a:prstGeom prst="rect">
              <a:avLst/>
            </a:prstGeom>
            <a:noFill/>
            <a:ln>
              <a:solidFill>
                <a:schemeClr val="bg2"/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dirty="0"/>
                <a:t>2017	14.45%</a:t>
              </a:r>
            </a:p>
            <a:p>
              <a:r>
                <a:rPr lang="en-US" dirty="0"/>
                <a:t>2018	-8.85%</a:t>
              </a:r>
            </a:p>
            <a:p>
              <a:r>
                <a:rPr lang="en-US" dirty="0"/>
                <a:t>2019	25.48%</a:t>
              </a:r>
            </a:p>
            <a:p>
              <a:r>
                <a:rPr lang="en-US" dirty="0"/>
                <a:t>2020	12.28%</a:t>
              </a:r>
            </a:p>
            <a:p>
              <a:r>
                <a:rPr lang="en-US" dirty="0"/>
                <a:t>2021	12.55%</a:t>
              </a:r>
            </a:p>
            <a:p>
              <a:r>
                <a:rPr lang="en-US" dirty="0"/>
                <a:t>2022	-17.83%</a:t>
              </a:r>
            </a:p>
            <a:p>
              <a:r>
                <a:rPr lang="en-US" dirty="0"/>
                <a:t>2023	20.97%</a:t>
              </a:r>
            </a:p>
            <a:p>
              <a:r>
                <a:rPr lang="en-US" dirty="0"/>
                <a:t>2024	20.18%</a:t>
              </a:r>
            </a:p>
            <a:p>
              <a:r>
                <a:rPr lang="en-US" dirty="0"/>
                <a:t>2025	-6.52%</a:t>
              </a:r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BDCF0418-2717-AFCC-49BF-18B4321EC0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7537" y="1561643"/>
            <a:ext cx="5091875" cy="4791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847994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7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" dur="500" autoRev="1" fill="remove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9" dur="500" autoRev="1" fill="remove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0" dur="500" autoRev="1" fill="remove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1" dur="500" autoRev="1" fill="remove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2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 build="p"/>
      <p:bldP spid="14" grpId="1" build="p"/>
      <p:bldP spid="14" grpId="2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2284412" y="381000"/>
            <a:ext cx="8382002" cy="1066800"/>
          </a:xfrm>
        </p:spPr>
        <p:txBody>
          <a:bodyPr anchor="b">
            <a:normAutofit/>
          </a:bodyPr>
          <a:lstStyle/>
          <a:p>
            <a:r>
              <a:rPr lang="en-US" sz="5400" dirty="0"/>
              <a:t>My annualized returns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sz="half" idx="1"/>
          </p:nvPr>
        </p:nvSpPr>
        <p:spPr>
          <a:xfrm>
            <a:off x="379411" y="381000"/>
            <a:ext cx="1905001" cy="1219200"/>
          </a:xfrm>
        </p:spPr>
        <p:txBody>
          <a:bodyPr>
            <a:noAutofit/>
          </a:bodyPr>
          <a:lstStyle/>
          <a:p>
            <a:pPr marL="0" lvl="0" indent="0">
              <a:buNone/>
            </a:pPr>
            <a:r>
              <a:rPr lang="en-US" sz="9600" b="1" dirty="0">
                <a:ln w="9525">
                  <a:noFill/>
                  <a:prstDash val="solid"/>
                </a:ln>
                <a:solidFill>
                  <a:schemeClr val="accent6"/>
                </a:solidFill>
                <a:ea typeface="+mj-ea"/>
                <a:cs typeface="+mj-cs"/>
              </a:rPr>
              <a:t>2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A6BBF7C-C476-F321-F17E-044D50D32DAA}"/>
              </a:ext>
            </a:extLst>
          </p:cNvPr>
          <p:cNvGrpSpPr/>
          <p:nvPr/>
        </p:nvGrpSpPr>
        <p:grpSpPr>
          <a:xfrm>
            <a:off x="1356827" y="1833788"/>
            <a:ext cx="7113586" cy="4643212"/>
            <a:chOff x="1370012" y="1981200"/>
            <a:chExt cx="7113586" cy="4643212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D2D074C-6481-4A8F-89C9-28F2EB4F0423}"/>
                </a:ext>
              </a:extLst>
            </p:cNvPr>
            <p:cNvSpPr txBox="1"/>
            <p:nvPr/>
          </p:nvSpPr>
          <p:spPr>
            <a:xfrm>
              <a:off x="1370012" y="1981200"/>
              <a:ext cx="7113586" cy="2215991"/>
            </a:xfrm>
            <a:prstGeom prst="rect">
              <a:avLst/>
            </a:prstGeom>
            <a:noFill/>
            <a:ln>
              <a:solidFill>
                <a:schemeClr val="bg2"/>
              </a:solidFill>
            </a:ln>
          </p:spPr>
          <p:txBody>
            <a:bodyPr wrap="square">
              <a:spAutoFit/>
            </a:bodyPr>
            <a:lstStyle/>
            <a:p>
              <a:pPr marL="223838" lvl="0" indent="-223838">
                <a:lnSpc>
                  <a:spcPct val="90000"/>
                </a:lnSpc>
                <a:spcBef>
                  <a:spcPts val="1800"/>
                </a:spcBef>
                <a:buClr>
                  <a:srgbClr val="99CB38"/>
                </a:buClr>
                <a:buSzPct val="100000"/>
                <a:buFont typeface="Arial" pitchFamily="34" charset="0"/>
                <a:buChar char="•"/>
                <a:defRPr/>
              </a:pPr>
              <a:r>
                <a:rPr lang="en-US" sz="2400" dirty="0">
                  <a:solidFill>
                    <a:prstClr val="white"/>
                  </a:solidFill>
                </a:rPr>
                <a:t>Roth IRA Account</a:t>
              </a:r>
            </a:p>
            <a:p>
              <a:pPr marL="223838" lvl="0" indent="-223838">
                <a:lnSpc>
                  <a:spcPct val="90000"/>
                </a:lnSpc>
                <a:spcBef>
                  <a:spcPts val="1800"/>
                </a:spcBef>
                <a:buClr>
                  <a:srgbClr val="99CB38"/>
                </a:buClr>
                <a:buSzPct val="100000"/>
                <a:buFont typeface="Arial" pitchFamily="34" charset="0"/>
                <a:buChar char="•"/>
                <a:defRPr/>
              </a:pPr>
              <a:r>
                <a:rPr lang="en-US" sz="2400" dirty="0">
                  <a:solidFill>
                    <a:prstClr val="white"/>
                  </a:solidFill>
                </a:rPr>
                <a:t>Shown are my current allocations</a:t>
              </a:r>
              <a:br>
                <a:rPr lang="en-US" sz="2400" dirty="0">
                  <a:solidFill>
                    <a:prstClr val="white"/>
                  </a:solidFill>
                </a:rPr>
              </a:br>
              <a:r>
                <a:rPr lang="en-US" sz="2400" dirty="0">
                  <a:solidFill>
                    <a:prstClr val="white"/>
                  </a:solidFill>
                </a:rPr>
                <a:t>and annual returns.</a:t>
              </a:r>
            </a:p>
            <a:p>
              <a:pPr marL="223838" lvl="0" indent="-223838">
                <a:lnSpc>
                  <a:spcPct val="90000"/>
                </a:lnSpc>
                <a:spcBef>
                  <a:spcPts val="1800"/>
                </a:spcBef>
                <a:buClr>
                  <a:srgbClr val="99CB38"/>
                </a:buClr>
                <a:buSzPct val="100000"/>
                <a:buFont typeface="Arial" pitchFamily="34" charset="0"/>
                <a:buChar char="•"/>
                <a:defRPr/>
              </a:pPr>
              <a:r>
                <a:rPr lang="en-US" sz="2400" dirty="0">
                  <a:solidFill>
                    <a:prstClr val="white"/>
                  </a:solidFill>
                </a:rPr>
                <a:t>2018 through 2023 max</a:t>
              </a:r>
              <a:br>
                <a:rPr lang="en-US" sz="2400" dirty="0">
                  <a:solidFill>
                    <a:prstClr val="white"/>
                  </a:solidFill>
                </a:rPr>
              </a:br>
              <a:r>
                <a:rPr lang="en-US" sz="2400" dirty="0">
                  <a:solidFill>
                    <a:prstClr val="white"/>
                  </a:solidFill>
                </a:rPr>
                <a:t> IRA contributions made.</a:t>
              </a: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A6701EDB-845A-90BB-D11C-7B3876AF8EFE}"/>
                </a:ext>
              </a:extLst>
            </p:cNvPr>
            <p:cNvSpPr txBox="1"/>
            <p:nvPr/>
          </p:nvSpPr>
          <p:spPr>
            <a:xfrm>
              <a:off x="2208212" y="4316088"/>
              <a:ext cx="2175952" cy="2308324"/>
            </a:xfrm>
            <a:prstGeom prst="rect">
              <a:avLst/>
            </a:prstGeom>
            <a:noFill/>
            <a:ln>
              <a:solidFill>
                <a:schemeClr val="bg2"/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dirty="0"/>
                <a:t>2018	-1.97%</a:t>
              </a:r>
            </a:p>
            <a:p>
              <a:r>
                <a:rPr lang="en-US" dirty="0"/>
                <a:t>2019	23.74%</a:t>
              </a:r>
            </a:p>
            <a:p>
              <a:r>
                <a:rPr lang="en-US" dirty="0"/>
                <a:t>2020	11.66%</a:t>
              </a:r>
            </a:p>
            <a:p>
              <a:r>
                <a:rPr lang="en-US" dirty="0"/>
                <a:t>2021	14.08%</a:t>
              </a:r>
            </a:p>
            <a:p>
              <a:r>
                <a:rPr lang="en-US" dirty="0"/>
                <a:t>2022	-18.86%</a:t>
              </a:r>
            </a:p>
            <a:p>
              <a:r>
                <a:rPr lang="en-US" dirty="0"/>
                <a:t>2023	16.82%</a:t>
              </a:r>
            </a:p>
            <a:p>
              <a:r>
                <a:rPr lang="en-US" dirty="0"/>
                <a:t>2024	11.76%</a:t>
              </a:r>
            </a:p>
            <a:p>
              <a:r>
                <a:rPr lang="en-US" dirty="0"/>
                <a:t>2025	-4.04%</a:t>
              </a:r>
            </a:p>
          </p:txBody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3AAF47B7-ED1D-5D2D-49E4-F95FA1E95E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6412" y="1678103"/>
            <a:ext cx="5139221" cy="4743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52773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7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" dur="500" autoRev="1" fill="remove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9" dur="500" autoRev="1" fill="remove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0" dur="500" autoRev="1" fill="remove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1" dur="500" autoRev="1" fill="remove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2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 build="p"/>
      <p:bldP spid="14" grpId="1" build="p"/>
      <p:bldP spid="14" grpId="2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2284412" y="381000"/>
            <a:ext cx="8382002" cy="1066800"/>
          </a:xfrm>
        </p:spPr>
        <p:txBody>
          <a:bodyPr anchor="b">
            <a:normAutofit/>
          </a:bodyPr>
          <a:lstStyle/>
          <a:p>
            <a:r>
              <a:rPr lang="en-US" sz="5400" dirty="0"/>
              <a:t>More Details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2D074C-6481-4A8F-89C9-28F2EB4F0423}"/>
              </a:ext>
            </a:extLst>
          </p:cNvPr>
          <p:cNvSpPr txBox="1"/>
          <p:nvPr/>
        </p:nvSpPr>
        <p:spPr>
          <a:xfrm>
            <a:off x="2257424" y="1981200"/>
            <a:ext cx="8561388" cy="2114425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>
            <a:spAutoFit/>
          </a:bodyPr>
          <a:lstStyle/>
          <a:p>
            <a:pPr marL="223838" lvl="0" indent="-223838">
              <a:lnSpc>
                <a:spcPct val="90000"/>
              </a:lnSpc>
              <a:spcBef>
                <a:spcPts val="1800"/>
              </a:spcBef>
              <a:buClr>
                <a:srgbClr val="99CB38"/>
              </a:buClr>
              <a:buSzPct val="100000"/>
              <a:buFont typeface="Arial" pitchFamily="34" charset="0"/>
              <a:buChar char="•"/>
              <a:defRPr/>
            </a:pPr>
            <a:r>
              <a:rPr lang="en-US" sz="2400" dirty="0">
                <a:solidFill>
                  <a:prstClr val="white"/>
                </a:solidFill>
                <a:hlinkClick r:id="rId2"/>
              </a:rPr>
              <a:t>Wealthfront's Investment Methodology</a:t>
            </a:r>
            <a:endParaRPr lang="en-US" sz="2400" dirty="0">
              <a:solidFill>
                <a:prstClr val="white"/>
              </a:solidFill>
            </a:endParaRPr>
          </a:p>
          <a:p>
            <a:pPr marL="223838" lvl="0" indent="-223838">
              <a:lnSpc>
                <a:spcPct val="90000"/>
              </a:lnSpc>
              <a:spcBef>
                <a:spcPts val="1800"/>
              </a:spcBef>
              <a:buClr>
                <a:srgbClr val="99CB38"/>
              </a:buClr>
              <a:buSzPct val="100000"/>
              <a:buFont typeface="Arial" pitchFamily="34" charset="0"/>
              <a:buChar char="•"/>
              <a:defRPr/>
            </a:pPr>
            <a:r>
              <a:rPr lang="en-US" sz="2400" dirty="0">
                <a:solidFill>
                  <a:prstClr val="white"/>
                </a:solidFill>
                <a:hlinkClick r:id="rId3"/>
              </a:rPr>
              <a:t>Wealthfront's Tax Loss Harvesting Approach</a:t>
            </a:r>
            <a:endParaRPr lang="en-US" sz="2400" dirty="0">
              <a:solidFill>
                <a:prstClr val="white"/>
              </a:solidFill>
            </a:endParaRPr>
          </a:p>
          <a:p>
            <a:pPr marL="223838" lvl="0" indent="-223838">
              <a:lnSpc>
                <a:spcPct val="90000"/>
              </a:lnSpc>
              <a:spcBef>
                <a:spcPts val="1800"/>
              </a:spcBef>
              <a:buClr>
                <a:srgbClr val="99CB38"/>
              </a:buClr>
              <a:buSzPct val="100000"/>
              <a:buFont typeface="Arial" pitchFamily="34" charset="0"/>
              <a:buChar char="•"/>
              <a:defRPr/>
            </a:pPr>
            <a:r>
              <a:rPr lang="en-US" sz="2400" dirty="0">
                <a:solidFill>
                  <a:prstClr val="white"/>
                </a:solidFill>
                <a:hlinkClick r:id="rId4"/>
              </a:rPr>
              <a:t>Wealthfront's Direct Indexing Approach</a:t>
            </a:r>
            <a:endParaRPr lang="en-US" sz="2400" dirty="0">
              <a:solidFill>
                <a:prstClr val="white"/>
              </a:solidFill>
            </a:endParaRPr>
          </a:p>
          <a:p>
            <a:pPr marL="223838" lvl="0" indent="-223838">
              <a:lnSpc>
                <a:spcPct val="90000"/>
              </a:lnSpc>
              <a:spcBef>
                <a:spcPts val="1800"/>
              </a:spcBef>
              <a:buClr>
                <a:srgbClr val="99CB38"/>
              </a:buClr>
              <a:buSzPct val="100000"/>
              <a:buFont typeface="Arial" pitchFamily="34" charset="0"/>
              <a:buChar char="•"/>
              <a:defRPr/>
            </a:pPr>
            <a:r>
              <a:rPr lang="en-US" sz="2400" dirty="0">
                <a:solidFill>
                  <a:prstClr val="white"/>
                </a:solidFill>
                <a:hlinkClick r:id="rId5"/>
              </a:rPr>
              <a:t>Wealthfront's Management of Taxes and Fees</a:t>
            </a:r>
            <a:endParaRPr lang="en-US" sz="2400" dirty="0">
              <a:solidFill>
                <a:prstClr val="white"/>
              </a:solidFill>
            </a:endParaRPr>
          </a:p>
        </p:txBody>
      </p:sp>
      <p:sp>
        <p:nvSpPr>
          <p:cNvPr id="14" name="Content Placeholder 13"/>
          <p:cNvSpPr>
            <a:spLocks noGrp="1"/>
          </p:cNvSpPr>
          <p:nvPr>
            <p:ph sz="half" idx="1"/>
          </p:nvPr>
        </p:nvSpPr>
        <p:spPr>
          <a:xfrm>
            <a:off x="379411" y="381000"/>
            <a:ext cx="1219201" cy="1486497"/>
          </a:xfrm>
        </p:spPr>
        <p:txBody>
          <a:bodyPr>
            <a:noAutofit/>
          </a:bodyPr>
          <a:lstStyle/>
          <a:p>
            <a:pPr marL="0" lvl="0" indent="0">
              <a:buNone/>
            </a:pPr>
            <a:r>
              <a:rPr lang="en-US" sz="11500" b="1" dirty="0">
                <a:ln w="9525">
                  <a:noFill/>
                  <a:prstDash val="solid"/>
                </a:ln>
                <a:solidFill>
                  <a:schemeClr val="accent6">
                    <a:alpha val="50000"/>
                  </a:schemeClr>
                </a:solidFill>
                <a:latin typeface="+mj-lt"/>
                <a:ea typeface="+mj-ea"/>
                <a:cs typeface="+mj-cs"/>
              </a:rPr>
              <a:t>1</a:t>
            </a:r>
            <a:endParaRPr lang="en-US" sz="11500" dirty="0">
              <a:solidFill>
                <a:schemeClr val="accent6">
                  <a:alpha val="50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99469441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7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7" dur="500" autoRev="1" fill="remove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8" dur="500" autoRev="1" fill="remove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9" dur="500" autoRev="1" fill="remove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" dur="500" autoRev="1" fill="remove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1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7" grpId="0" animBg="1"/>
      <p:bldP spid="14" grpId="0" build="p"/>
      <p:bldP spid="14" grpId="1" build="p"/>
      <p:bldP spid="14" grpId="2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2284412" y="381000"/>
            <a:ext cx="8382002" cy="1066800"/>
          </a:xfrm>
        </p:spPr>
        <p:txBody>
          <a:bodyPr anchor="b">
            <a:normAutofit/>
          </a:bodyPr>
          <a:lstStyle/>
          <a:p>
            <a:r>
              <a:rPr lang="en-US" sz="5400" dirty="0"/>
              <a:t>Needs Improvement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sz="half" idx="1"/>
          </p:nvPr>
        </p:nvSpPr>
        <p:spPr>
          <a:xfrm>
            <a:off x="379411" y="381000"/>
            <a:ext cx="1905001" cy="1219200"/>
          </a:xfrm>
        </p:spPr>
        <p:txBody>
          <a:bodyPr>
            <a:noAutofit/>
          </a:bodyPr>
          <a:lstStyle/>
          <a:p>
            <a:pPr marL="0" lvl="0" indent="0">
              <a:buNone/>
            </a:pPr>
            <a:r>
              <a:rPr lang="en-US" sz="9600" b="1" dirty="0">
                <a:ln w="9525">
                  <a:noFill/>
                  <a:prstDash val="solid"/>
                </a:ln>
                <a:solidFill>
                  <a:schemeClr val="accent6"/>
                </a:solidFill>
                <a:ea typeface="+mj-ea"/>
                <a:cs typeface="+mj-cs"/>
              </a:rPr>
              <a:t>0</a:t>
            </a:r>
            <a:endParaRPr lang="en-US" sz="9600" dirty="0">
              <a:solidFill>
                <a:schemeClr val="accent6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2D074C-6481-4A8F-89C9-28F2EB4F0423}"/>
              </a:ext>
            </a:extLst>
          </p:cNvPr>
          <p:cNvSpPr txBox="1"/>
          <p:nvPr/>
        </p:nvSpPr>
        <p:spPr>
          <a:xfrm>
            <a:off x="2284412" y="1600200"/>
            <a:ext cx="7418388" cy="4902881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>
            <a:spAutoFit/>
          </a:bodyPr>
          <a:lstStyle/>
          <a:p>
            <a:pPr marL="223838" indent="-223838">
              <a:lnSpc>
                <a:spcPct val="90000"/>
              </a:lnSpc>
              <a:spcBef>
                <a:spcPts val="1800"/>
              </a:spcBef>
              <a:buClr>
                <a:srgbClr val="99CB38"/>
              </a:buClr>
              <a:buSzPct val="100000"/>
              <a:buFont typeface="Arial" pitchFamily="34" charset="0"/>
              <a:buChar char="•"/>
              <a:defRPr/>
            </a:pPr>
            <a:r>
              <a:rPr lang="en-US" sz="2400" dirty="0">
                <a:solidFill>
                  <a:prstClr val="white"/>
                </a:solidFill>
              </a:rPr>
              <a:t>Risk Parity did not work better than bonds and had higher volatility. I sold out after 3 years.</a:t>
            </a:r>
          </a:p>
          <a:p>
            <a:pPr marL="223838" indent="-223838">
              <a:lnSpc>
                <a:spcPct val="90000"/>
              </a:lnSpc>
              <a:spcBef>
                <a:spcPts val="1800"/>
              </a:spcBef>
              <a:buClr>
                <a:srgbClr val="99CB38"/>
              </a:buClr>
              <a:buSzPct val="100000"/>
              <a:buFont typeface="Arial" pitchFamily="34" charset="0"/>
              <a:buChar char="•"/>
              <a:defRPr/>
            </a:pPr>
            <a:r>
              <a:rPr lang="en-US" sz="2400" dirty="0">
                <a:solidFill>
                  <a:prstClr val="white"/>
                </a:solidFill>
              </a:rPr>
              <a:t>Banking features are not complete.</a:t>
            </a:r>
          </a:p>
          <a:p>
            <a:pPr marL="223838" marR="0" lvl="0" indent="-223838" algn="l" defTabSz="914400" rtl="0" eaLnBrk="1" fontAlgn="auto" latinLnBrk="0" hangingPunct="1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99CB38"/>
              </a:buClr>
              <a:buSzPct val="100000"/>
              <a:buFont typeface="Arial" pitchFamily="34" charset="0"/>
              <a:buChar char="•"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</a:rPr>
              <a:t>No longer </a:t>
            </a:r>
            <a:r>
              <a:rPr lang="en-US" sz="2400" b="1" dirty="0">
                <a:solidFill>
                  <a:prstClr val="white"/>
                </a:solidFill>
                <a:latin typeface="Century Gothic" panose="020B0502020202020204"/>
              </a:rPr>
              <a:t>offer p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</a:rPr>
              <a:t>artial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</a:rPr>
              <a:t> Roth conversions internally.</a:t>
            </a:r>
          </a:p>
          <a:p>
            <a:pPr marL="223838" marR="0" lvl="0" indent="-223838" algn="l" defTabSz="914400" rtl="0" eaLnBrk="1" fontAlgn="auto" latinLnBrk="0" hangingPunct="1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99CB38"/>
              </a:buClr>
              <a:buSzPct val="100000"/>
              <a:buFont typeface="Arial" pitchFamily="34" charset="0"/>
              <a:buChar char="•"/>
              <a:tabLst/>
              <a:defRPr/>
            </a:pPr>
            <a:r>
              <a:rPr lang="en-US" sz="2400" b="1" dirty="0">
                <a:solidFill>
                  <a:prstClr val="white"/>
                </a:solidFill>
                <a:latin typeface="Century Gothic" panose="020B0502020202020204"/>
              </a:rPr>
              <a:t>No automated investment withdrawals, even to their own cash accounts. (Using Sequence to eliminate this shortfall.)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</a:endParaRPr>
          </a:p>
          <a:p>
            <a:pPr marL="223838" lvl="0" indent="-223838">
              <a:lnSpc>
                <a:spcPct val="90000"/>
              </a:lnSpc>
              <a:spcBef>
                <a:spcPts val="1800"/>
              </a:spcBef>
              <a:buClr>
                <a:srgbClr val="99CB38"/>
              </a:buClr>
              <a:buSzPct val="100000"/>
              <a:buFont typeface="Arial" pitchFamily="34" charset="0"/>
              <a:buChar char="•"/>
              <a:defRPr/>
            </a:pPr>
            <a:r>
              <a:rPr lang="en-US" sz="2400" dirty="0">
                <a:solidFill>
                  <a:prstClr val="white"/>
                </a:solidFill>
              </a:rPr>
              <a:t>Banking rates not competitive when interest rates are &lt; 0.5%.</a:t>
            </a:r>
          </a:p>
          <a:p>
            <a:pPr marL="223838" lvl="0" indent="-223838">
              <a:lnSpc>
                <a:spcPct val="90000"/>
              </a:lnSpc>
              <a:spcBef>
                <a:spcPts val="1800"/>
              </a:spcBef>
              <a:buClr>
                <a:srgbClr val="99CB38"/>
              </a:buClr>
              <a:buSzPct val="100000"/>
              <a:buFont typeface="Arial" pitchFamily="34" charset="0"/>
              <a:buChar char="•"/>
              <a:defRPr/>
            </a:pPr>
            <a:r>
              <a:rPr lang="en-US" sz="2400" dirty="0">
                <a:solidFill>
                  <a:prstClr val="white"/>
                </a:solidFill>
              </a:rPr>
              <a:t>Quiz to determine risk score is inadequate.</a:t>
            </a:r>
          </a:p>
        </p:txBody>
      </p:sp>
    </p:spTree>
    <p:extLst>
      <p:ext uri="{BB962C8B-B14F-4D97-AF65-F5344CB8AC3E}">
        <p14:creationId xmlns:p14="http://schemas.microsoft.com/office/powerpoint/2010/main" val="71584978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7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" dur="500" autoRev="1" fill="remove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9" dur="500" autoRev="1" fill="remove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0" dur="500" autoRev="1" fill="remove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1" dur="500" autoRev="1" fill="remove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1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 build="p"/>
      <p:bldP spid="14" grpId="1" build="p"/>
      <p:bldP spid="14" grpId="2" build="p"/>
      <p:bldP spid="7" grpId="0" uiExpand="1" build="p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</p:tagLst>
</file>

<file path=ppt/theme/theme1.xml><?xml version="1.0" encoding="utf-8"?>
<a:theme xmlns:a="http://schemas.openxmlformats.org/drawingml/2006/main" name="Blue atom design template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Century Gothic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dirty="0"/>
        </a:defPPr>
      </a:lstStyle>
      <a:style>
        <a:lnRef idx="3">
          <a:schemeClr val="lt1"/>
        </a:lnRef>
        <a:fillRef idx="1">
          <a:schemeClr val="accent5"/>
        </a:fillRef>
        <a:effectRef idx="1">
          <a:schemeClr val="accent5"/>
        </a:effectRef>
        <a:fontRef idx="minor">
          <a:schemeClr val="lt1"/>
        </a:fontRef>
      </a:style>
    </a:spDef>
    <a:lnDef>
      <a:spPr>
        <a:ln>
          <a:solidFill>
            <a:schemeClr val="accent5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>
          <a:solidFill>
            <a:schemeClr val="bg2"/>
          </a:solidFill>
        </a:ln>
      </a:spPr>
      <a:bodyPr wrap="square" rtlCol="0" anchor="ctr" anchorCtr="1">
        <a:spAutoFit/>
      </a:bodyPr>
      <a:lstStyle>
        <a:defPPr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Blue atom design slides.potx" id="{20958743-FA80-43E5-9586-B48EF2BE42B5}" vid="{6B9132C0-2E4C-4DF6-B21A-C2322474BD21}"/>
    </a:ext>
  </a:extLst>
</a:theme>
</file>

<file path=ppt/theme/theme2.xml><?xml version="1.0" encoding="utf-8"?>
<a:theme xmlns:a="http://schemas.openxmlformats.org/drawingml/2006/main" name="Office Theme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Century Gothic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Century Gothic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A3F7D94069FF64A86F7DFF56D60E3BE" ma:contentTypeVersion="6" ma:contentTypeDescription="Create a new document." ma:contentTypeScope="" ma:versionID="c32302c77d4085ecf495bdddb7f5e889">
  <xsd:schema xmlns:xsd="http://www.w3.org/2001/XMLSchema" xmlns:xs="http://www.w3.org/2001/XMLSchema" xmlns:p="http://schemas.microsoft.com/office/2006/metadata/properties" xmlns:ns2="a4f35948-e619-41b3-aa29-22878b09cfd2" xmlns:ns3="40262f94-9f35-4ac3-9a90-690165a166b7" targetNamespace="http://schemas.microsoft.com/office/2006/metadata/properties" ma:root="true" ma:fieldsID="4ab5ae46be95f9d0be6107e8200be7a2" ns2:_="" ns3:_="">
    <xsd:import namespace="a4f35948-e619-41b3-aa29-22878b09cfd2"/>
    <xsd:import namespace="40262f94-9f35-4ac3-9a90-690165a166b7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VSO_x0020_item_x0020_id" minOccurs="0"/>
                <xsd:element ref="ns3:Item_x0020_Details" minOccurs="0"/>
                <xsd:element ref="ns3:Template_x0020_details" minOccurs="0"/>
                <xsd:element ref="ns3:Assetid_x0020_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4f35948-e619-41b3-aa29-22878b09cfd2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0262f94-9f35-4ac3-9a90-690165a166b7" elementFormDefault="qualified">
    <xsd:import namespace="http://schemas.microsoft.com/office/2006/documentManagement/types"/>
    <xsd:import namespace="http://schemas.microsoft.com/office/infopath/2007/PartnerControls"/>
    <xsd:element name="VSO_x0020_item_x0020_id" ma:index="10" nillable="true" ma:displayName="VSO item id" ma:description="Please add the bug number to refer to VSO items." ma:internalName="VSO_x0020_item_x0020_id">
      <xsd:simpleType>
        <xsd:restriction base="dms:Text">
          <xsd:maxLength value="255"/>
        </xsd:restriction>
      </xsd:simpleType>
    </xsd:element>
    <xsd:element name="Item_x0020_Details" ma:index="11" nillable="true" ma:displayName="Item Details" ma:internalName="Item_x0020_Details">
      <xsd:simpleType>
        <xsd:restriction base="dms:Note">
          <xsd:maxLength value="255"/>
        </xsd:restriction>
      </xsd:simpleType>
    </xsd:element>
    <xsd:element name="Template_x0020_details" ma:index="12" nillable="true" ma:displayName="Template details" ma:internalName="Template_x0020_details">
      <xsd:simpleType>
        <xsd:restriction base="dms:Text"/>
      </xsd:simpleType>
    </xsd:element>
    <xsd:element name="Assetid_x0020_" ma:index="13" nillable="true" ma:displayName="Assetid " ma:internalName="Assetid_x0020_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VSO_x0020_item_x0020_id xmlns="40262f94-9f35-4ac3-9a90-690165a166b7" xsi:nil="true"/>
    <Assetid_x0020_ xmlns="40262f94-9f35-4ac3-9a90-690165a166b7" xsi:nil="true"/>
    <Item_x0020_Details xmlns="40262f94-9f35-4ac3-9a90-690165a166b7" xsi:nil="true"/>
    <Template_x0020_details xmlns="40262f94-9f35-4ac3-9a90-690165a166b7" xsi:nil="true"/>
  </documentManagement>
</p:properties>
</file>

<file path=customXml/itemProps1.xml><?xml version="1.0" encoding="utf-8"?>
<ds:datastoreItem xmlns:ds="http://schemas.openxmlformats.org/officeDocument/2006/customXml" ds:itemID="{0875BD71-4A33-4FB7-88CA-777C4D9E6EE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1F78577-2839-4BFF-9EC7-673BD8FEBD8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4f35948-e619-41b3-aa29-22878b09cfd2"/>
    <ds:schemaRef ds:uri="40262f94-9f35-4ac3-9a90-690165a166b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049C11C-71DC-49B6-ACD8-27E3AE088D14}">
  <ds:schemaRefs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openxmlformats.org/package/2006/metadata/core-properties"/>
    <ds:schemaRef ds:uri="http://schemas.microsoft.com/office/infopath/2007/PartnerControls"/>
    <ds:schemaRef ds:uri="http://purl.org/dc/terms/"/>
    <ds:schemaRef ds:uri="40262f94-9f35-4ac3-9a90-690165a166b7"/>
    <ds:schemaRef ds:uri="a4f35948-e619-41b3-aa29-22878b09cfd2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Blue atom design slides</Template>
  <TotalTime>12595</TotalTime>
  <Words>820</Words>
  <Application>Microsoft Office PowerPoint</Application>
  <PresentationFormat>Custom</PresentationFormat>
  <Paragraphs>95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Century Gothic</vt:lpstr>
      <vt:lpstr>Blue atom design template</vt:lpstr>
      <vt:lpstr>2025 Robo Advice &amp; Wealthfront Review</vt:lpstr>
      <vt:lpstr>What is a Robo Advisor?</vt:lpstr>
      <vt:lpstr>The Robo Landscape</vt:lpstr>
      <vt:lpstr>Risk Profiling</vt:lpstr>
      <vt:lpstr>Parametric Rebalancing</vt:lpstr>
      <vt:lpstr>Tax Loss Harvesting</vt:lpstr>
      <vt:lpstr>Tax Loss Harvesting</vt:lpstr>
      <vt:lpstr>Direct Indexing</vt:lpstr>
      <vt:lpstr>My annualized returns</vt:lpstr>
      <vt:lpstr>My annualized returns</vt:lpstr>
      <vt:lpstr>More Details</vt:lpstr>
      <vt:lpstr>Needs Improvement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Wealthfront 2022</dc:title>
  <dc:creator>Cave Arnold</dc:creator>
  <cp:lastModifiedBy>Cave Arnold</cp:lastModifiedBy>
  <cp:revision>48</cp:revision>
  <dcterms:created xsi:type="dcterms:W3CDTF">2022-03-27T18:03:02Z</dcterms:created>
  <dcterms:modified xsi:type="dcterms:W3CDTF">2025-04-23T17:37:28Z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rder">
    <vt:r8>74069000</vt:r8>
  </property>
  <property fmtid="{D5CDD505-2E9C-101B-9397-08002B2CF9AE}" pid="3" name="HiddenCategoryTags">
    <vt:lpwstr/>
  </property>
  <property fmtid="{D5CDD505-2E9C-101B-9397-08002B2CF9AE}" pid="4" name="InternalTags">
    <vt:lpwstr/>
  </property>
  <property fmtid="{D5CDD505-2E9C-101B-9397-08002B2CF9AE}" pid="5" name="CategoryTags">
    <vt:lpwstr/>
  </property>
  <property fmtid="{D5CDD505-2E9C-101B-9397-08002B2CF9AE}" pid="6" name="Applications">
    <vt:lpwstr/>
  </property>
  <property fmtid="{D5CDD505-2E9C-101B-9397-08002B2CF9AE}" pid="7" name="CampaignTags">
    <vt:lpwstr/>
  </property>
  <property fmtid="{D5CDD505-2E9C-101B-9397-08002B2CF9AE}" pid="8" name="ScenarioTags">
    <vt:lpwstr/>
  </property>
  <property fmtid="{D5CDD505-2E9C-101B-9397-08002B2CF9AE}" pid="9" name="ContentTypeId">
    <vt:lpwstr>0x010100AA3F7D94069FF64A86F7DFF56D60E3BE</vt:lpwstr>
  </property>
  <property fmtid="{D5CDD505-2E9C-101B-9397-08002B2CF9AE}" pid="10" name="FeatureTags">
    <vt:lpwstr/>
  </property>
  <property fmtid="{D5CDD505-2E9C-101B-9397-08002B2CF9AE}" pid="11" name="LocalizationTags">
    <vt:lpwstr/>
  </property>
</Properties>
</file>