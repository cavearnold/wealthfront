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322" r:id="rId5"/>
    <p:sldId id="332" r:id="rId6"/>
    <p:sldId id="330" r:id="rId7"/>
    <p:sldId id="338" r:id="rId8"/>
    <p:sldId id="337" r:id="rId9"/>
    <p:sldId id="329" r:id="rId10"/>
    <p:sldId id="326" r:id="rId11"/>
    <p:sldId id="328" r:id="rId12"/>
    <p:sldId id="325" r:id="rId13"/>
    <p:sldId id="324" r:id="rId14"/>
    <p:sldId id="323" r:id="rId15"/>
    <p:sldId id="333" r:id="rId16"/>
  </p:sldIdLst>
  <p:sldSz cx="12188825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200">
          <p15:clr>
            <a:srgbClr val="A4A3A4"/>
          </p15:clr>
        </p15:guide>
        <p15:guide id="4" orient="horz" pos="1008">
          <p15:clr>
            <a:srgbClr val="A4A3A4"/>
          </p15:clr>
        </p15:guide>
        <p15:guide id="5" orient="horz" pos="3792">
          <p15:clr>
            <a:srgbClr val="A4A3A4"/>
          </p15:clr>
        </p15:guide>
        <p15:guide id="6" orient="horz">
          <p15:clr>
            <a:srgbClr val="A4A3A4"/>
          </p15:clr>
        </p15:guide>
        <p15:guide id="7" orient="horz" pos="3360">
          <p15:clr>
            <a:srgbClr val="A4A3A4"/>
          </p15:clr>
        </p15:guide>
        <p15:guide id="8" orient="horz" pos="3312">
          <p15:clr>
            <a:srgbClr val="A4A3A4"/>
          </p15:clr>
        </p15:guide>
        <p15:guide id="9" orient="horz" pos="240">
          <p15:clr>
            <a:srgbClr val="A4A3A4"/>
          </p15:clr>
        </p15:guide>
        <p15:guide id="10" orient="horz" pos="432">
          <p15:clr>
            <a:srgbClr val="A4A3A4"/>
          </p15:clr>
        </p15:guide>
        <p15:guide id="11" orient="horz" pos="2784">
          <p15:clr>
            <a:srgbClr val="A4A3A4"/>
          </p15:clr>
        </p15:guide>
        <p15:guide id="12" pos="3839">
          <p15:clr>
            <a:srgbClr val="A4A3A4"/>
          </p15:clr>
        </p15:guide>
        <p15:guide id="13" pos="959">
          <p15:clr>
            <a:srgbClr val="A4A3A4"/>
          </p15:clr>
        </p15:guide>
        <p15:guide id="14" pos="6143">
          <p15:clr>
            <a:srgbClr val="A4A3A4"/>
          </p15:clr>
        </p15:guide>
        <p15:guide id="15" pos="1247">
          <p15:clr>
            <a:srgbClr val="A4A3A4"/>
          </p15:clr>
        </p15:guide>
        <p15:guide id="16" pos="7007">
          <p15:clr>
            <a:srgbClr val="A4A3A4"/>
          </p15:clr>
        </p15:guide>
        <p15:guide id="17" pos="5855">
          <p15:clr>
            <a:srgbClr val="A4A3A4"/>
          </p15:clr>
        </p15:guide>
        <p15:guide id="18" pos="671">
          <p15:clr>
            <a:srgbClr val="A4A3A4"/>
          </p15:clr>
        </p15:guide>
        <p15:guide id="19" pos="7151">
          <p15:clr>
            <a:srgbClr val="A4A3A4"/>
          </p15:clr>
        </p15:guide>
        <p15:guide id="20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581" autoAdjust="0"/>
  </p:normalViewPr>
  <p:slideViewPr>
    <p:cSldViewPr showGuides="1">
      <p:cViewPr varScale="1">
        <p:scale>
          <a:sx n="146" d="100"/>
          <a:sy n="146" d="100"/>
        </p:scale>
        <p:origin x="3108" y="186"/>
      </p:cViewPr>
      <p:guideLst>
        <p:guide orient="horz" pos="2160"/>
        <p:guide orient="horz" pos="4030"/>
        <p:guide orient="horz" pos="1200"/>
        <p:guide orient="horz" pos="1008"/>
        <p:guide orient="horz" pos="3792"/>
        <p:guide orient="horz"/>
        <p:guide orient="horz" pos="3360"/>
        <p:guide orient="horz" pos="3312"/>
        <p:guide orient="horz" pos="240"/>
        <p:guide orient="horz" pos="432"/>
        <p:guide orient="horz" pos="2784"/>
        <p:guide pos="3839"/>
        <p:guide pos="959"/>
        <p:guide pos="6143"/>
        <p:guide pos="1247"/>
        <p:guide pos="7007"/>
        <p:guide pos="5855"/>
        <p:guide pos="671"/>
        <p:guide pos="7151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9" d="100"/>
          <a:sy n="79" d="100"/>
        </p:scale>
        <p:origin x="249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5/30/2023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5/30/2023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95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ltGray"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1" cap="none" spc="0">
                <a:ln w="9525">
                  <a:noFill/>
                  <a:prstDash val="solid"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1D2498CD-A622-4ACC-98D8-8365C1B868F0}" type="datetime1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80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BF3DB-CE40-42F4-BAF4-5D73D1160093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80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CA6E5-33C6-44C3-9324-1BC5DF93F43F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67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381000"/>
            <a:ext cx="9144002" cy="1371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9C1D9-07E1-4387-AF34-89EE2802766D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89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2" y="381000"/>
            <a:ext cx="9144002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9E85B-B39A-43E9-82DE-E3279D984288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9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0C95-D35D-47FC-816D-E56328637043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8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163A7-695C-4C09-B334-6924060F5B71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B6D02-49B3-41C1-9893-391F698AE757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6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1AC91-90B4-40B7-917F-BAE86E369F96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1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CF6B-193C-4CEB-9860-F1C5F0818FA3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95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6CBC3-4EDC-4C84-BDD0-15F2AD890B92}" type="datetime1">
              <a:rPr lang="en-US" smtClean="0"/>
              <a:t>5/30/2023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30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AB525-F3F4-481A-B8D5-B732FA9EB082}" type="datetime1">
              <a:rPr lang="en-US" smtClean="0"/>
              <a:pPr/>
              <a:t>5/30/2023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3442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none" spc="0" baseline="0">
          <a:ln w="9525">
            <a:noFill/>
            <a:prstDash val="solid"/>
          </a:ln>
          <a:solidFill>
            <a:schemeClr val="accent5"/>
          </a:solidFill>
          <a:effectLst/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aveArnold@gmail.com?subject=Financial%20Question...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ealthfront.com/c/affiliates/invited/AFFA-O89Y-XREM-UFY6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theroboreport.com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wealthfront.com/whitepapers/tax-loss-harvesting/" TargetMode="External"/><Relationship Id="rId2" Type="http://schemas.openxmlformats.org/officeDocument/2006/relationships/hyperlink" Target="https://research.wealthfront.com/whitepapers/investment-methodology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wealthfront.com/blog/important-minimizing-taxes-minimizing-fees" TargetMode="External"/><Relationship Id="rId4" Type="http://schemas.openxmlformats.org/officeDocument/2006/relationships/hyperlink" Target="https://research.wealthfront.com/whitepapers/stock-level-tax-loss-harvesting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991598" cy="2895600"/>
          </a:xfrm>
        </p:spPr>
        <p:txBody>
          <a:bodyPr>
            <a:normAutofit/>
          </a:bodyPr>
          <a:lstStyle/>
          <a:p>
            <a:r>
              <a:rPr lang="en-US" sz="7200" dirty="0"/>
              <a:t>2023</a:t>
            </a:r>
            <a:br>
              <a:rPr lang="en-US" sz="7200" dirty="0"/>
            </a:br>
            <a:r>
              <a:rPr lang="en-US" sz="7200" dirty="0"/>
              <a:t>Robo Advice &amp; Wealthfront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6019800" cy="1219200"/>
          </a:xfrm>
        </p:spPr>
        <p:txBody>
          <a:bodyPr/>
          <a:lstStyle/>
          <a:p>
            <a:r>
              <a:rPr lang="en-US" dirty="0"/>
              <a:t>My review based on six years of use.</a:t>
            </a:r>
          </a:p>
          <a:p>
            <a:endParaRPr lang="en-US" dirty="0"/>
          </a:p>
          <a:p>
            <a:r>
              <a:rPr lang="en-US" dirty="0"/>
              <a:t>Cave Arnold – CFP, RICP</a:t>
            </a:r>
          </a:p>
          <a:p>
            <a:r>
              <a:rPr lang="en-US" dirty="0">
                <a:hlinkClick r:id="rId3"/>
              </a:rPr>
              <a:t>Cavearnold@gmail.com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37023-4AA1-6450-7E6A-65E0E6A91D14}"/>
              </a:ext>
            </a:extLst>
          </p:cNvPr>
          <p:cNvSpPr txBox="1"/>
          <p:nvPr/>
        </p:nvSpPr>
        <p:spPr>
          <a:xfrm>
            <a:off x="7997825" y="2076271"/>
            <a:ext cx="4191000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hlinkClick r:id="rId4"/>
              </a:rPr>
              <a:t>If you decide to sign up with Wealthfront based on this review, please use this link as we each get an extra $5,000 managed free.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48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What is a Robo Advisor?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10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836612" y="1981200"/>
            <a:ext cx="10058400" cy="325935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Use software algorithms to automate complex financial transactions. (i.e., ATMs instead of Bank Tellers)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Have human investment officers that decide which investment offerings for a given risk and reevaluate periodically.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Generally, use broad market low-cost index funds in an exchange traded fund (ETF) wrapper for tax efficiency.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May offer goal oriented financial planning projections.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Allow a one stop shop for retirement accounts. (Brokerage, Cash, IRA, Roth IRA, 529, etc.)</a:t>
            </a:r>
          </a:p>
        </p:txBody>
      </p:sp>
    </p:spTree>
    <p:extLst>
      <p:ext uri="{BB962C8B-B14F-4D97-AF65-F5344CB8AC3E}">
        <p14:creationId xmlns:p14="http://schemas.microsoft.com/office/powerpoint/2010/main" val="23335530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The Robo Landscape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 9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D193E8-D5F5-6481-0A33-531E70531231}"/>
              </a:ext>
            </a:extLst>
          </p:cNvPr>
          <p:cNvGrpSpPr/>
          <p:nvPr/>
        </p:nvGrpSpPr>
        <p:grpSpPr>
          <a:xfrm>
            <a:off x="379411" y="1447800"/>
            <a:ext cx="11817765" cy="5263568"/>
            <a:chOff x="379411" y="1447800"/>
            <a:chExt cx="11817765" cy="526356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379411" y="1981200"/>
              <a:ext cx="5105401" cy="1569660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dirty="0">
                  <a:solidFill>
                    <a:prstClr val="white"/>
                  </a:solidFill>
                  <a:latin typeface="Century Gothic" panose="020B0502020202020204"/>
                  <a:hlinkClick r:id="rId2"/>
                </a:rPr>
                <a:t>The Robo Report</a:t>
              </a:r>
              <a:endParaRPr lang="en-US" dirty="0">
                <a:solidFill>
                  <a:prstClr val="white"/>
                </a:solidFill>
                <a:latin typeface="Century Gothic" panose="020B0502020202020204"/>
              </a:endParaRPr>
            </a:p>
            <a:p>
              <a:pPr marL="681038" lvl="1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kumimoji="0" 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In 2017 I did my</a:t>
              </a:r>
              <a:r>
                <a:rPr kumimoji="0" lang="en-US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own evaluations. Now there is a group that is focused on providing independent guidance on performance.</a:t>
              </a:r>
              <a:endPara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71EE0C3-F1A9-C995-8C86-FCB427579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412" y="3962400"/>
              <a:ext cx="5280340" cy="274896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D492FE-2E4F-5705-F7C9-904D54050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3412" y="1447800"/>
              <a:ext cx="6483764" cy="27768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2116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Risk Profiling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8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836612" y="1981200"/>
            <a:ext cx="10058400" cy="266534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Wealthfront has a risk questionnaire that is used to assign a risk score.</a:t>
            </a:r>
          </a:p>
          <a:p>
            <a:pPr marL="463550" lvl="1" indent="-231775">
              <a:lnSpc>
                <a:spcPct val="90000"/>
              </a:lnSpc>
              <a:spcBef>
                <a:spcPts val="12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prstClr val="white"/>
                </a:solidFill>
              </a:rPr>
              <a:t>Risk scores define which of the base allocations to start with.</a:t>
            </a:r>
          </a:p>
          <a:p>
            <a:pPr marL="682625" lvl="2" indent="-219075">
              <a:lnSpc>
                <a:spcPct val="90000"/>
              </a:lnSpc>
              <a:spcBef>
                <a:spcPts val="6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The risk analysis questionnaire was not sufficient to capture all risk mitigating factors.</a:t>
            </a:r>
          </a:p>
          <a:p>
            <a:pPr marL="682625" lvl="2" indent="-219075">
              <a:lnSpc>
                <a:spcPct val="90000"/>
              </a:lnSpc>
              <a:spcBef>
                <a:spcPts val="6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I increased to match an 80/20 split at 50 and a 90/10 split at 55.</a:t>
            </a:r>
          </a:p>
          <a:p>
            <a:pPr marL="682625" lvl="2" indent="-219075">
              <a:lnSpc>
                <a:spcPct val="90000"/>
              </a:lnSpc>
              <a:spcBef>
                <a:spcPts val="6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dirty="0">
                <a:solidFill>
                  <a:prstClr val="white"/>
                </a:solidFill>
              </a:rPr>
              <a:t>This aligned with my taking most of my pension as an annuity and not a lump as I had initially planned.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14820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Parametric Rebalancing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7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836612" y="1981200"/>
            <a:ext cx="10058400" cy="34717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Century Gothic" panose="020B0502020202020204"/>
              </a:rPr>
              <a:t>Wealthfront maintains the original assigned allocation.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463550" marR="0" lvl="1" indent="-2317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Century Gothic" panose="020B0502020202020204"/>
              </a:rPr>
              <a:t>Parameters are used as percentages off before a rebalance occurs.</a:t>
            </a:r>
          </a:p>
          <a:p>
            <a:pPr marL="463550" marR="0" lvl="1" indent="-2317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If regular deposits are being made or dividends are re-invested, then those are invested to maintain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asset allocation first.</a:t>
            </a:r>
          </a:p>
          <a:p>
            <a:pPr marL="463550" marR="0" lvl="1" indent="-231775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000" baseline="0" dirty="0">
                <a:solidFill>
                  <a:prstClr val="white"/>
                </a:solidFill>
                <a:latin typeface="Century Gothic" panose="020B0502020202020204"/>
              </a:rPr>
              <a:t>If a change</a:t>
            </a:r>
            <a:r>
              <a:rPr lang="en-US" sz="2000" dirty="0">
                <a:solidFill>
                  <a:prstClr val="white"/>
                </a:solidFill>
                <a:latin typeface="Century Gothic" panose="020B0502020202020204"/>
              </a:rPr>
              <a:t> in asset class price occurs that exceeds the set parameter limit.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682625" marR="0" lvl="2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dirty="0">
                <a:solidFill>
                  <a:prstClr val="white"/>
                </a:solidFill>
                <a:latin typeface="Century Gothic" panose="020B0502020202020204"/>
              </a:rPr>
              <a:t>Sell higher valued assets and buy lower valued assets to realign.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857250" marR="0" lvl="3" indent="-17462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dirty="0">
                <a:solidFill>
                  <a:prstClr val="white"/>
                </a:solidFill>
                <a:latin typeface="Century Gothic" panose="020B0502020202020204"/>
              </a:rPr>
              <a:t>This automatically maintains a sell high - buy low methodology.</a:t>
            </a:r>
          </a:p>
          <a:p>
            <a:pPr marL="857250" marR="0" lvl="3" indent="-17462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parameter makes the sales as soon as a percentage of drift has occurred rather than on fixed dates like end of year or middle of year or quarterly which are arbitrary.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2677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Tax Loss Harvesting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6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8D15E8-1453-23E1-835F-7D2032A3FA79}"/>
              </a:ext>
            </a:extLst>
          </p:cNvPr>
          <p:cNvGrpSpPr/>
          <p:nvPr/>
        </p:nvGrpSpPr>
        <p:grpSpPr>
          <a:xfrm>
            <a:off x="684211" y="1981200"/>
            <a:ext cx="11173662" cy="4296561"/>
            <a:chOff x="684211" y="1981200"/>
            <a:chExt cx="11173662" cy="42965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684211" y="1981200"/>
              <a:ext cx="10945061" cy="429656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Wealthfront will automatically perform tax loss harvesting based on a parametrized decrease in price.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These harvested losses can </a:t>
              </a:r>
              <a:b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then be used to offset gains.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$3000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may also be used to lower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tax </a:t>
              </a: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liability.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Any remaining losses may be</a:t>
              </a:r>
              <a:b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carried forward to the next tax year.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Wealthfront understands limitations</a:t>
              </a:r>
              <a:b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such as the wash sale rule.</a:t>
              </a: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Wealthfront</a:t>
              </a:r>
              <a: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also understands how to</a:t>
              </a:r>
              <a:b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apply short term versus long term losses.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CEE748-08D7-D179-02A8-F3707A4E0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0612" y="2438400"/>
              <a:ext cx="5687261" cy="37343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960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Tax Loss Harvesting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5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C388610-EE86-79B5-4F0A-A375AD935F63}"/>
              </a:ext>
            </a:extLst>
          </p:cNvPr>
          <p:cNvGrpSpPr/>
          <p:nvPr/>
        </p:nvGrpSpPr>
        <p:grpSpPr>
          <a:xfrm>
            <a:off x="1217612" y="1981200"/>
            <a:ext cx="10802060" cy="4620121"/>
            <a:chOff x="1217612" y="1981200"/>
            <a:chExt cx="10802060" cy="46201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1217612" y="1981200"/>
              <a:ext cx="5600700" cy="2215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Wealthfront publishes actual TLH metrics for all risk scores historically.</a:t>
              </a: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Daily TLH versus annual TLH compared.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393A2EC-61A0-AEDE-41B7-904B49770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2612" y="2697131"/>
              <a:ext cx="5087060" cy="380100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5D0E0C-9A95-FF7B-33A5-FE70CC744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41732" y="3633960"/>
              <a:ext cx="4176580" cy="29673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56232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Direct Indexing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4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34A09FA-8B74-9128-9D0B-75EC93892D4E}"/>
              </a:ext>
            </a:extLst>
          </p:cNvPr>
          <p:cNvGrpSpPr/>
          <p:nvPr/>
        </p:nvGrpSpPr>
        <p:grpSpPr>
          <a:xfrm>
            <a:off x="684212" y="1981200"/>
            <a:ext cx="10972800" cy="4410425"/>
            <a:chOff x="684212" y="1981200"/>
            <a:chExt cx="10972800" cy="4410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684212" y="1981200"/>
              <a:ext cx="10972800" cy="294234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Wealthfront also performs direct indexing using 100 individual stocks from the S&amp;P 500.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463550" marR="0" lvl="1" indent="-231775" algn="l" defTabSz="914400" rtl="0" eaLnBrk="1" fontAlgn="auto" latinLnBrk="0" hangingPunct="1">
                <a:lnSpc>
                  <a:spcPct val="9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000" dirty="0">
                  <a:solidFill>
                    <a:prstClr val="white"/>
                  </a:solidFill>
                  <a:latin typeface="Century Gothic" panose="020B0502020202020204"/>
                </a:rPr>
                <a:t>This allows more tax loss harvesting as the individual stocks making up the index are more volatile than the index proper.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682625" marR="0" lvl="2" indent="-21907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This is only available at $100,000 level on taxable accounts</a:t>
              </a:r>
              <a:r>
                <a:rPr kumimoji="0" 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.</a:t>
              </a:r>
            </a:p>
            <a:p>
              <a:pPr marL="682625" marR="0" lvl="2" indent="-21907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baseline="0" dirty="0">
                  <a:solidFill>
                    <a:prstClr val="white"/>
                  </a:solidFill>
                  <a:latin typeface="Century Gothic" panose="020B0502020202020204"/>
                </a:rPr>
                <a:t>The table shown compares</a:t>
              </a:r>
              <a:r>
                <a:rPr lang="en-US" dirty="0">
                  <a:solidFill>
                    <a:prstClr val="white"/>
                  </a:solidFill>
                  <a:latin typeface="Century Gothic" panose="020B0502020202020204"/>
                </a:rPr>
                <a:t> the TLH adjusted yields of </a:t>
              </a:r>
              <a:br>
                <a:rPr lang="en-US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dirty="0">
                  <a:solidFill>
                    <a:prstClr val="white"/>
                  </a:solidFill>
                  <a:latin typeface="Century Gothic" panose="020B0502020202020204"/>
                </a:rPr>
                <a:t>Direct indexing versus the VTI ETF.</a:t>
              </a:r>
            </a:p>
            <a:p>
              <a:pPr marL="682625" marR="0" lvl="2" indent="-219075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This demonstrates the tax advantages of direct indexing</a:t>
              </a:r>
              <a:b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over normal ETFs</a:t>
              </a:r>
              <a:r>
                <a:rPr kumimoji="0" lang="en-US" sz="18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with TLH.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690A8FA-52BA-AE29-C269-CCCAD00DE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0743" y="3886200"/>
              <a:ext cx="3896269" cy="2505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5673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My annualized returns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3</a:t>
            </a:r>
            <a:endParaRPr lang="en-US" sz="9600" dirty="0">
              <a:solidFill>
                <a:schemeClr val="accent6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1F481B-C6E1-CDC3-4483-F0F75033B0A3}"/>
              </a:ext>
            </a:extLst>
          </p:cNvPr>
          <p:cNvGrpSpPr/>
          <p:nvPr/>
        </p:nvGrpSpPr>
        <p:grpSpPr>
          <a:xfrm>
            <a:off x="1293812" y="1979728"/>
            <a:ext cx="10611332" cy="4274970"/>
            <a:chOff x="1293812" y="1979728"/>
            <a:chExt cx="10611332" cy="427497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1293812" y="1981200"/>
              <a:ext cx="7189786" cy="2215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Taxable Account</a:t>
              </a: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Shown are my current allocations</a:t>
              </a:r>
              <a:b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</a:b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and</a:t>
              </a:r>
              <a:r>
                <a:rPr kumimoji="0" lang="en-US" sz="2400" b="0" i="0" u="none" strike="noStrike" kern="1200" cap="none" spc="0" normalizeH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 annual returns.</a:t>
              </a:r>
            </a:p>
            <a:p>
              <a:pPr marL="223838" marR="0" lvl="0" indent="-223838" algn="l" defTabSz="914400" rtl="0" eaLnBrk="1" fontAlgn="auto" latinLnBrk="0" hangingPunct="1">
                <a:lnSpc>
                  <a:spcPct val="9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99CB38"/>
                </a:buClr>
                <a:buSzPct val="100000"/>
                <a:buFont typeface="Arial" pitchFamily="34" charset="0"/>
                <a:buChar char="•"/>
                <a:tabLst/>
                <a:defRPr/>
              </a:pP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2017 was partial from April and </a:t>
              </a:r>
              <a:b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</a:br>
              <a:r>
                <a:rPr lang="en-US" sz="2400" dirty="0">
                  <a:solidFill>
                    <a:prstClr val="white"/>
                  </a:solidFill>
                  <a:latin typeface="Century Gothic" panose="020B0502020202020204"/>
                </a:rPr>
                <a:t>2023 is year to date April.</a:t>
              </a: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3EB2CDB-0F57-1129-DBE7-239FB8048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04012" y="1979728"/>
              <a:ext cx="5201132" cy="41810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45FFB3-0209-698F-7CF4-80FFE922D725}"/>
                </a:ext>
              </a:extLst>
            </p:cNvPr>
            <p:cNvSpPr txBox="1"/>
            <p:nvPr/>
          </p:nvSpPr>
          <p:spPr>
            <a:xfrm>
              <a:off x="2636553" y="4223373"/>
              <a:ext cx="2252152" cy="2031325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2017	14.45%</a:t>
              </a:r>
            </a:p>
            <a:p>
              <a:r>
                <a:rPr lang="en-US" dirty="0"/>
                <a:t>2018	-8.85%</a:t>
              </a:r>
            </a:p>
            <a:p>
              <a:r>
                <a:rPr lang="en-US" dirty="0"/>
                <a:t>2019	25.48%</a:t>
              </a:r>
            </a:p>
            <a:p>
              <a:r>
                <a:rPr lang="en-US" dirty="0"/>
                <a:t>2020	12.28%</a:t>
              </a:r>
            </a:p>
            <a:p>
              <a:r>
                <a:rPr lang="en-US" dirty="0"/>
                <a:t>2021	12.55%</a:t>
              </a:r>
            </a:p>
            <a:p>
              <a:r>
                <a:rPr lang="en-US" dirty="0"/>
                <a:t>2022	-17.83%</a:t>
              </a:r>
            </a:p>
            <a:p>
              <a:r>
                <a:rPr lang="en-US" dirty="0"/>
                <a:t>2023	12.56%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8479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My annualized returns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6BBF7C-C476-F321-F17E-044D50D32DAA}"/>
              </a:ext>
            </a:extLst>
          </p:cNvPr>
          <p:cNvGrpSpPr/>
          <p:nvPr/>
        </p:nvGrpSpPr>
        <p:grpSpPr>
          <a:xfrm>
            <a:off x="1370012" y="1981200"/>
            <a:ext cx="10574603" cy="4137697"/>
            <a:chOff x="1370012" y="1981200"/>
            <a:chExt cx="10574603" cy="413769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2D074C-6481-4A8F-89C9-28F2EB4F0423}"/>
                </a:ext>
              </a:extLst>
            </p:cNvPr>
            <p:cNvSpPr txBox="1"/>
            <p:nvPr/>
          </p:nvSpPr>
          <p:spPr>
            <a:xfrm>
              <a:off x="1370012" y="1981200"/>
              <a:ext cx="7113586" cy="2215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pPr marL="223838" lvl="0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400" dirty="0">
                  <a:solidFill>
                    <a:prstClr val="white"/>
                  </a:solidFill>
                </a:rPr>
                <a:t>Roth IRA Account</a:t>
              </a:r>
            </a:p>
            <a:p>
              <a:pPr marL="223838" lvl="0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400" dirty="0">
                  <a:solidFill>
                    <a:prstClr val="white"/>
                  </a:solidFill>
                </a:rPr>
                <a:t>Shown are my current allocations</a:t>
              </a:r>
              <a:br>
                <a:rPr lang="en-US" sz="2400" dirty="0">
                  <a:solidFill>
                    <a:prstClr val="white"/>
                  </a:solidFill>
                </a:rPr>
              </a:br>
              <a:r>
                <a:rPr lang="en-US" sz="2400" dirty="0">
                  <a:solidFill>
                    <a:prstClr val="white"/>
                  </a:solidFill>
                </a:rPr>
                <a:t>and annual returns.</a:t>
              </a:r>
            </a:p>
            <a:p>
              <a:pPr marL="223838" lvl="0" indent="-223838">
                <a:lnSpc>
                  <a:spcPct val="90000"/>
                </a:lnSpc>
                <a:spcBef>
                  <a:spcPts val="1800"/>
                </a:spcBef>
                <a:buClr>
                  <a:srgbClr val="99CB38"/>
                </a:buClr>
                <a:buSzPct val="100000"/>
                <a:buFont typeface="Arial" pitchFamily="34" charset="0"/>
                <a:buChar char="•"/>
                <a:defRPr/>
              </a:pPr>
              <a:r>
                <a:rPr lang="en-US" sz="2400" dirty="0">
                  <a:solidFill>
                    <a:prstClr val="white"/>
                  </a:solidFill>
                </a:rPr>
                <a:t>2018 through 2023 max</a:t>
              </a:r>
              <a:br>
                <a:rPr lang="en-US" sz="2400" dirty="0">
                  <a:solidFill>
                    <a:prstClr val="white"/>
                  </a:solidFill>
                </a:rPr>
              </a:br>
              <a:r>
                <a:rPr lang="en-US" sz="2400" dirty="0">
                  <a:solidFill>
                    <a:prstClr val="white"/>
                  </a:solidFill>
                </a:rPr>
                <a:t> IRA contributions made.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6701EDB-845A-90BB-D11C-7B3876AF8EFE}"/>
                </a:ext>
              </a:extLst>
            </p:cNvPr>
            <p:cNvSpPr txBox="1"/>
            <p:nvPr/>
          </p:nvSpPr>
          <p:spPr>
            <a:xfrm>
              <a:off x="2208212" y="4316088"/>
              <a:ext cx="2175952" cy="1754326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dirty="0"/>
                <a:t>2018	-1.97%</a:t>
              </a:r>
            </a:p>
            <a:p>
              <a:r>
                <a:rPr lang="en-US" dirty="0"/>
                <a:t>2019	23.74%</a:t>
              </a:r>
            </a:p>
            <a:p>
              <a:r>
                <a:rPr lang="en-US" dirty="0"/>
                <a:t>2020	11.66%</a:t>
              </a:r>
            </a:p>
            <a:p>
              <a:r>
                <a:rPr lang="en-US" dirty="0"/>
                <a:t>2021	14,08%</a:t>
              </a:r>
            </a:p>
            <a:p>
              <a:r>
                <a:rPr lang="en-US" dirty="0"/>
                <a:t>2022	-18.86%</a:t>
              </a:r>
            </a:p>
            <a:p>
              <a:r>
                <a:rPr lang="en-US" dirty="0"/>
                <a:t>2023	4.96%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304A38-FBC0-8C64-26D4-1724BD658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04012" y="1981200"/>
              <a:ext cx="5240603" cy="41376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527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More 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2257424" y="1981200"/>
            <a:ext cx="8561388" cy="21144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2"/>
              </a:rPr>
              <a:t>Wealthfront's Investment Methodology</a:t>
            </a: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3"/>
              </a:rPr>
              <a:t>Wealthfront's Tax Loss Harvesting Approach</a:t>
            </a: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4"/>
              </a:rPr>
              <a:t>Wealthfront's Direct Indexing Approach</a:t>
            </a: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  <a:hlinkClick r:id="rId5"/>
              </a:rPr>
              <a:t>Wealthfront's Management of Taxes and Fees</a:t>
            </a: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219201" cy="14864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1500" b="1" dirty="0">
                <a:ln w="9525">
                  <a:noFill/>
                  <a:prstDash val="solid"/>
                </a:ln>
                <a:solidFill>
                  <a:schemeClr val="accent6">
                    <a:alpha val="5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endParaRPr lang="en-US" sz="11500" dirty="0">
              <a:solidFill>
                <a:schemeClr val="accent6">
                  <a:alpha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94694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7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  <p:bldP spid="14" grpId="0" build="p"/>
      <p:bldP spid="14" grpId="2" build="p"/>
      <p:bldP spid="14" grpId="3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4412" y="381000"/>
            <a:ext cx="8382002" cy="1066800"/>
          </a:xfrm>
        </p:spPr>
        <p:txBody>
          <a:bodyPr anchor="b">
            <a:normAutofit/>
          </a:bodyPr>
          <a:lstStyle/>
          <a:p>
            <a:r>
              <a:rPr lang="en-US" sz="5400" dirty="0"/>
              <a:t>Needs Improvement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79411" y="381000"/>
            <a:ext cx="1905001" cy="1219200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9600" b="1" dirty="0">
                <a:ln w="9525">
                  <a:noFill/>
                  <a:prstDash val="solid"/>
                </a:ln>
                <a:solidFill>
                  <a:schemeClr val="accent6"/>
                </a:solidFill>
                <a:ea typeface="+mj-ea"/>
                <a:cs typeface="+mj-cs"/>
              </a:rPr>
              <a:t>0</a:t>
            </a:r>
            <a:endParaRPr lang="en-US" sz="9600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D074C-6481-4A8F-89C9-28F2EB4F0423}"/>
              </a:ext>
            </a:extLst>
          </p:cNvPr>
          <p:cNvSpPr txBox="1"/>
          <p:nvPr/>
        </p:nvSpPr>
        <p:spPr>
          <a:xfrm>
            <a:off x="2257424" y="1981200"/>
            <a:ext cx="7418388" cy="536454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L="223838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Risk Parity did not work better than bonds and had higher volatility. I sold out after 3 years.</a:t>
            </a:r>
          </a:p>
          <a:p>
            <a:pPr marL="223838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Banking features are not complete.</a:t>
            </a:r>
          </a:p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</a:rPr>
              <a:t>No longer </a:t>
            </a:r>
            <a:r>
              <a:rPr lang="en-US" sz="2400" b="1" dirty="0">
                <a:solidFill>
                  <a:prstClr val="white"/>
                </a:solidFill>
                <a:latin typeface="Century Gothic" panose="020B0502020202020204"/>
              </a:rPr>
              <a:t>offer p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</a:rPr>
              <a:t>artial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</a:rPr>
              <a:t> Roth conversions.</a:t>
            </a:r>
          </a:p>
          <a:p>
            <a:pPr marL="223838" marR="0" lvl="0" indent="-223838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99CB38"/>
              </a:buClr>
              <a:buSzPct val="100000"/>
              <a:buFont typeface="Arial" pitchFamily="34" charset="0"/>
              <a:buChar char="•"/>
              <a:tabLst/>
              <a:defRPr/>
            </a:pPr>
            <a:r>
              <a:rPr lang="en-US" sz="2400" b="1" dirty="0">
                <a:solidFill>
                  <a:prstClr val="white"/>
                </a:solidFill>
                <a:latin typeface="Century Gothic" panose="020B0502020202020204"/>
              </a:rPr>
              <a:t>No automated investment withdrawals, even to their own cash accounts.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Banking rates not competitive when interest rates are &lt; 0.5%.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prstClr val="white"/>
                </a:solidFill>
              </a:rPr>
              <a:t>Quiz to determine risk score is inadequate. </a:t>
            </a: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endParaRPr lang="en-US" sz="2400" dirty="0">
              <a:solidFill>
                <a:prstClr val="white"/>
              </a:solidFill>
            </a:endParaRPr>
          </a:p>
          <a:p>
            <a:pPr marL="223838" lvl="0" indent="-223838">
              <a:lnSpc>
                <a:spcPct val="90000"/>
              </a:lnSpc>
              <a:spcBef>
                <a:spcPts val="1800"/>
              </a:spcBef>
              <a:buClr>
                <a:srgbClr val="99CB38"/>
              </a:buClr>
              <a:buSzPct val="100000"/>
              <a:buFont typeface="Arial" pitchFamily="34" charset="0"/>
              <a:buChar char="•"/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8497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7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500" autoRev="1" fill="remove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  <p:bldP spid="14" grpId="1" build="p"/>
      <p:bldP spid="14" grpId="2" build="p"/>
      <p:bldP spid="7" grpId="0" uiExpand="1" build="p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Blue atom design templat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ue atom design slides.potx" id="{20958743-FA80-43E5-9586-B48EF2BE42B5}" vid="{6B9132C0-2E4C-4DF6-B21A-C2322474BD21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49C11C-71DC-49B6-ACD8-27E3AE088D14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40262f94-9f35-4ac3-9a90-690165a166b7"/>
    <ds:schemaRef ds:uri="a4f35948-e619-41b3-aa29-22878b09cfd2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1F78577-2839-4BFF-9EC7-673BD8FEBD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75BD71-4A33-4FB7-88CA-777C4D9E6E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atom design slides</Template>
  <TotalTime>11514</TotalTime>
  <Words>767</Words>
  <Application>Microsoft Office PowerPoint</Application>
  <PresentationFormat>Custom</PresentationFormat>
  <Paragraphs>90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Blue atom design template</vt:lpstr>
      <vt:lpstr>2023 Robo Advice &amp; Wealthfront Review</vt:lpstr>
      <vt:lpstr>What is a Robo Advisor?</vt:lpstr>
      <vt:lpstr>The Robo Landscape</vt:lpstr>
      <vt:lpstr>Risk Profiling</vt:lpstr>
      <vt:lpstr>Parametric Rebalancing</vt:lpstr>
      <vt:lpstr>Tax Loss Harvesting</vt:lpstr>
      <vt:lpstr>Tax Loss Harvesting</vt:lpstr>
      <vt:lpstr>Direct Indexing</vt:lpstr>
      <vt:lpstr>My annualized returns</vt:lpstr>
      <vt:lpstr>My annualized returns</vt:lpstr>
      <vt:lpstr>More Details</vt:lpstr>
      <vt:lpstr>Needs Improvement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Wealthfront 2022</dc:title>
  <dc:creator>Cave Arnold</dc:creator>
  <cp:lastModifiedBy>Cave Arnold</cp:lastModifiedBy>
  <cp:revision>43</cp:revision>
  <dcterms:created xsi:type="dcterms:W3CDTF">2022-03-27T18:03:02Z</dcterms:created>
  <dcterms:modified xsi:type="dcterms:W3CDTF">2023-05-30T16:10:04Z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74069000</vt:r8>
  </property>
  <property fmtid="{D5CDD505-2E9C-101B-9397-08002B2CF9AE}" pid="3" name="HiddenCategoryTags">
    <vt:lpwstr/>
  </property>
  <property fmtid="{D5CDD505-2E9C-101B-9397-08002B2CF9AE}" pid="4" name="InternalTags">
    <vt:lpwstr/>
  </property>
  <property fmtid="{D5CDD505-2E9C-101B-9397-08002B2CF9AE}" pid="5" name="CategoryTags">
    <vt:lpwstr/>
  </property>
  <property fmtid="{D5CDD505-2E9C-101B-9397-08002B2CF9AE}" pid="6" name="Applications">
    <vt:lpwstr/>
  </property>
  <property fmtid="{D5CDD505-2E9C-101B-9397-08002B2CF9AE}" pid="7" name="CampaignTags">
    <vt:lpwstr/>
  </property>
  <property fmtid="{D5CDD505-2E9C-101B-9397-08002B2CF9AE}" pid="8" name="ScenarioTags">
    <vt:lpwstr/>
  </property>
  <property fmtid="{D5CDD505-2E9C-101B-9397-08002B2CF9AE}" pid="9" name="ContentTypeId">
    <vt:lpwstr>0x010100AA3F7D94069FF64A86F7DFF56D60E3BE</vt:lpwstr>
  </property>
  <property fmtid="{D5CDD505-2E9C-101B-9397-08002B2CF9AE}" pid="10" name="FeatureTags">
    <vt:lpwstr/>
  </property>
  <property fmtid="{D5CDD505-2E9C-101B-9397-08002B2CF9AE}" pid="11" name="LocalizationTags">
    <vt:lpwstr/>
  </property>
</Properties>
</file>